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  <p:sldMasterId id="2147483688" r:id="rId5"/>
  </p:sldMasterIdLst>
  <p:notesMasterIdLst>
    <p:notesMasterId r:id="rId31"/>
  </p:notesMasterIdLst>
  <p:handoutMasterIdLst>
    <p:handoutMasterId r:id="rId32"/>
  </p:handoutMasterIdLst>
  <p:sldIdLst>
    <p:sldId id="1407" r:id="rId6"/>
    <p:sldId id="1409" r:id="rId7"/>
    <p:sldId id="1423" r:id="rId8"/>
    <p:sldId id="1408" r:id="rId9"/>
    <p:sldId id="1410" r:id="rId10"/>
    <p:sldId id="279" r:id="rId11"/>
    <p:sldId id="259" r:id="rId12"/>
    <p:sldId id="271" r:id="rId13"/>
    <p:sldId id="1433" r:id="rId14"/>
    <p:sldId id="262" r:id="rId15"/>
    <p:sldId id="261" r:id="rId16"/>
    <p:sldId id="1434" r:id="rId17"/>
    <p:sldId id="269" r:id="rId18"/>
    <p:sldId id="1435" r:id="rId19"/>
    <p:sldId id="284" r:id="rId20"/>
    <p:sldId id="289" r:id="rId21"/>
    <p:sldId id="1429" r:id="rId22"/>
    <p:sldId id="1430" r:id="rId23"/>
    <p:sldId id="1413" r:id="rId24"/>
    <p:sldId id="1412" r:id="rId25"/>
    <p:sldId id="1420" r:id="rId26"/>
    <p:sldId id="266" r:id="rId27"/>
    <p:sldId id="278" r:id="rId28"/>
    <p:sldId id="280" r:id="rId29"/>
    <p:sldId id="318" r:id="rId30"/>
  </p:sldIdLst>
  <p:sldSz cx="9144000" cy="5143500" type="screen16x9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6" orient="horz" pos="1620" userDrawn="1">
          <p15:clr>
            <a:srgbClr val="A4A3A4"/>
          </p15:clr>
        </p15:guide>
        <p15:guide id="7" pos="5470">
          <p15:clr>
            <a:srgbClr val="A4A3A4"/>
          </p15:clr>
        </p15:guide>
        <p15:guide id="8" pos="28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CE39"/>
    <a:srgbClr val="E11AE6"/>
    <a:srgbClr val="00AEEF"/>
    <a:srgbClr val="FD9208"/>
    <a:srgbClr val="003C71"/>
    <a:srgbClr val="F83308"/>
    <a:srgbClr val="006600"/>
    <a:srgbClr val="0071C5"/>
    <a:srgbClr val="F0CE3E"/>
    <a:srgbClr val="F3D5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A7005F-93D3-4E4E-952B-3B7A38BC0592}" v="83" dt="2026-01-23T01:51:20.6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6" autoAdjust="0"/>
    <p:restoredTop sz="94660"/>
  </p:normalViewPr>
  <p:slideViewPr>
    <p:cSldViewPr snapToGrid="0">
      <p:cViewPr varScale="1">
        <p:scale>
          <a:sx n="199" d="100"/>
          <a:sy n="199" d="100"/>
        </p:scale>
        <p:origin x="840" y="78"/>
      </p:cViewPr>
      <p:guideLst>
        <p:guide orient="horz" pos="1620"/>
        <p:guide pos="5470"/>
        <p:guide pos="28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microsoft.com/office/2015/10/relationships/revisionInfo" Target="revisionInfo.xml"/><Relationship Id="rId21" Type="http://schemas.openxmlformats.org/officeDocument/2006/relationships/slide" Target="slides/slide16.xml"/><Relationship Id="rId34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commentAuthors" Target="commentAuthors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uintero Cruz, Jesus" userId="f7775e77-40ed-4ca5-a56c-95874caf319f" providerId="ADAL" clId="{72B1B89F-8923-4B69-BBF3-8BC77463474A}"/>
    <pc:docChg chg="mod">
      <pc:chgData name="Quintero Cruz, Jesus" userId="f7775e77-40ed-4ca5-a56c-95874caf319f" providerId="ADAL" clId="{72B1B89F-8923-4B69-BBF3-8BC77463474A}" dt="2026-02-10T18:24:14.318" v="0"/>
      <pc:docMkLst>
        <pc:docMk/>
      </pc:docMkLst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>
              <a:latin typeface="Intel Clear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5ACFD7B2-88A6-E34E-8EF8-CB0C7BA47ADD}" type="datetimeFigureOut">
              <a:rPr lang="en-US" smtClean="0">
                <a:latin typeface="Intel Clear"/>
              </a:rPr>
              <a:pPr/>
              <a:t>2/10/2026</a:t>
            </a:fld>
            <a:endParaRPr lang="en-US">
              <a:latin typeface="Intel Clear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>
              <a:latin typeface="Intel Clear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96CFA4E-18EB-6D49-8DE2-7A74038C2C1C}" type="slidenum">
              <a:rPr lang="en-US" smtClean="0">
                <a:latin typeface="Intel Clear"/>
              </a:rPr>
              <a:pPr/>
              <a:t>‹#›</a:t>
            </a:fld>
            <a:endParaRPr lang="en-US">
              <a:latin typeface="Intel Clear"/>
            </a:endParaRPr>
          </a:p>
        </p:txBody>
      </p:sp>
    </p:spTree>
    <p:extLst>
      <p:ext uri="{BB962C8B-B14F-4D97-AF65-F5344CB8AC3E}">
        <p14:creationId xmlns:p14="http://schemas.microsoft.com/office/powerpoint/2010/main" val="91299412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Intel Clear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Intel Clear"/>
              </a:defRPr>
            </a:lvl1pPr>
          </a:lstStyle>
          <a:p>
            <a:fld id="{ED7FC5FE-6F0D-D34A-8EE6-C95B4F5F4DC8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Intel Clear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Intel Clear"/>
              </a:defRPr>
            </a:lvl1pPr>
          </a:lstStyle>
          <a:p>
            <a:fld id="{D61C8689-8455-3546-ADF9-3B7273760F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42922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F2EC60-CFB6-4797-B577-9ABE8B01949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690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F2EC60-CFB6-4797-B577-9ABE8B01949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9701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F2EC60-CFB6-4797-B577-9ABE8B01949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3585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F2EC60-CFB6-4797-B577-9ABE8B01949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824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F2EC60-CFB6-4797-B577-9ABE8B01949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2817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F2EC60-CFB6-4797-B577-9ABE8B01949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7746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F2EC60-CFB6-4797-B577-9ABE8B01949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946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BDF07-F179-D3A7-9406-0F5072BD9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26C187-BB20-BCD2-8A43-373E3396CD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8DAA05-DDD2-1309-2266-361E1311DE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A4DDC0-AD9A-2608-0C2C-9A9C1F1820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F2EC60-CFB6-4797-B577-9ABE8B01949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0207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F2EC60-CFB6-4797-B577-9ABE8B01949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2454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BCC53-7CEE-FDC1-5E9A-D0C3922B7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E8F38E-CC9E-32D8-49D7-D4AB0B7F41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E9CF23-DB62-8D49-293F-8A19F4143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24FF1E-0FB9-70DB-E93A-1DF2B15FCA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F2EC60-CFB6-4797-B577-9ABE8B01949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5443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F2EC60-CFB6-4797-B577-9ABE8B01949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9709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F2EC60-CFB6-4797-B577-9ABE8B01949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319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F2EC60-CFB6-4797-B577-9ABE8B01949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5031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F2EC60-CFB6-4797-B577-9ABE8B01949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0107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Wrong Data, this specification has 48 frequency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F2EC60-CFB6-4797-B577-9ABE8B01949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9872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F2EC60-CFB6-4797-B577-9ABE8B01949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702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/>
              <a:t>65pt Intel Clear pro Title</a:t>
            </a:r>
            <a:br>
              <a:rPr lang="en-US"/>
            </a:br>
            <a:r>
              <a:rPr lang="en-US"/>
              <a:t>with Linear gradient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493008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16pt Intel Clear Subhead, Date, Etc.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9193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Pr>
        <a:gradFill>
          <a:gsLst>
            <a:gs pos="30000">
              <a:schemeClr val="tx2"/>
            </a:gs>
            <a:gs pos="100000">
              <a:srgbClr val="009FDF"/>
            </a:gs>
            <a:gs pos="65000">
              <a:srgbClr val="0071C5"/>
            </a:gs>
          </a:gsLst>
          <a:lin ang="198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47688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/>
              <a:t>Insert photo here. Drag picture to placeholder or click icon to add.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/>
              <a:t>65pt Intel Clear pro Title</a:t>
            </a:r>
            <a:br>
              <a:rPr lang="en-US"/>
            </a:br>
            <a:r>
              <a:rPr lang="en-US"/>
              <a:t>with image</a:t>
            </a:r>
          </a:p>
        </p:txBody>
      </p:sp>
      <p:sp>
        <p:nvSpPr>
          <p:cNvPr id="1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493008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16pt Intel Clear Subhead, Date, Etc.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026569" y="4825464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Intel Confidential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190557" y="4827543"/>
            <a:ext cx="4152658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i="0" spc="50" baseline="0">
                <a:solidFill>
                  <a:schemeClr val="bg1"/>
                </a:solidFill>
                <a:latin typeface="Intel Clear Pro" panose="020B0804020202060201" pitchFamily="34" charset="0"/>
                <a:ea typeface="Intel Clear Pro" panose="020B0804020202060201" pitchFamily="34" charset="0"/>
                <a:cs typeface="Intel Clear Pro" panose="020B0804020202060201" pitchFamily="34" charset="0"/>
              </a:rPr>
              <a:t>Intel Validation Engineering (</a:t>
            </a:r>
            <a:r>
              <a:rPr lang="en-US" sz="1200" i="0" spc="50" baseline="0" err="1">
                <a:solidFill>
                  <a:schemeClr val="bg1"/>
                </a:solidFill>
                <a:latin typeface="+mn-lt"/>
                <a:ea typeface="Intel Clear Pro" panose="020B0804020202060201" pitchFamily="34" charset="0"/>
                <a:cs typeface="Intel Clear Pro" panose="020B0804020202060201" pitchFamily="34" charset="0"/>
              </a:rPr>
              <a:t>i</a:t>
            </a:r>
            <a:r>
              <a:rPr lang="en-US" sz="1200" i="0" spc="50" baseline="0" err="1">
                <a:solidFill>
                  <a:schemeClr val="bg1"/>
                </a:solidFill>
                <a:latin typeface="Intel Clear Pro" panose="020B0804020202060201" pitchFamily="34" charset="0"/>
                <a:ea typeface="Intel Clear Pro" panose="020B0804020202060201" pitchFamily="34" charset="0"/>
                <a:cs typeface="Intel Clear Pro" panose="020B0804020202060201" pitchFamily="34" charset="0"/>
              </a:rPr>
              <a:t>VE</a:t>
            </a:r>
            <a:r>
              <a:rPr lang="en-US" sz="1200" i="0">
                <a:solidFill>
                  <a:schemeClr val="bg1"/>
                </a:solidFill>
                <a:latin typeface="Intel Clear Pro" panose="020B0804020202060201" pitchFamily="34" charset="0"/>
                <a:ea typeface="Intel Clear Pro" panose="020B0804020202060201" pitchFamily="34" charset="0"/>
                <a:cs typeface="Intel Clear Pro" panose="020B0804020202060201" pitchFamily="34" charset="0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00" b="1" u="none">
                <a:solidFill>
                  <a:schemeClr val="bg1"/>
                </a:solidFill>
                <a:ea typeface="Intel Clear" panose="020B0604020203020204" pitchFamily="34" charset="0"/>
              </a:rPr>
              <a:t>Engineering </a:t>
            </a:r>
            <a:r>
              <a:rPr lang="en-US" sz="500" b="1">
                <a:solidFill>
                  <a:schemeClr val="bg1"/>
                </a:solidFill>
                <a:ea typeface="Intel Clear" panose="020B0604020203020204" pitchFamily="34" charset="0"/>
              </a:rPr>
              <a:t>Intel’s promise of highest quality and performance</a:t>
            </a:r>
            <a:endParaRPr lang="en-US" sz="5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832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  <a:prstGeom prst="rect">
            <a:avLst/>
          </a:prstGeo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>
              <a:defRPr sz="4400" b="0" i="0" baseline="0">
                <a:solidFill>
                  <a:schemeClr val="tx2"/>
                </a:solidFill>
                <a:latin typeface="Intel Clear Pro" panose="020B0804020202060201" pitchFamily="34" charset="0"/>
                <a:ea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/>
              <a:t>44pt Intel Clear Pro Headline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455613" y="1203325"/>
            <a:ext cx="8228012" cy="3425825"/>
          </a:xfrm>
        </p:spPr>
        <p:txBody>
          <a:bodyPr/>
          <a:lstStyle>
            <a:lvl1pPr>
              <a:defRPr>
                <a:solidFill>
                  <a:srgbClr val="0071C5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18pt Intel Clear body text</a:t>
            </a:r>
          </a:p>
          <a:p>
            <a:pPr lvl="1"/>
            <a:r>
              <a:rPr lang="en-US"/>
              <a:t>18pt Intel Clear bullet one</a:t>
            </a:r>
          </a:p>
          <a:p>
            <a:pPr lvl="2"/>
            <a:r>
              <a:rPr lang="en-US"/>
              <a:t>18pt Intel Clear sub-bullet</a:t>
            </a:r>
          </a:p>
          <a:p>
            <a:pPr lvl="3"/>
            <a:r>
              <a:rPr lang="en-US"/>
              <a:t>16pt Intel Clear fourth level</a:t>
            </a:r>
          </a:p>
          <a:p>
            <a:pPr lvl="4"/>
            <a:r>
              <a:rPr lang="en-US" err="1"/>
              <a:t>14pt</a:t>
            </a:r>
            <a:r>
              <a:rPr lang="en-US"/>
              <a:t> Intel Clear fifth level</a:t>
            </a:r>
          </a:p>
        </p:txBody>
      </p:sp>
    </p:spTree>
    <p:extLst>
      <p:ext uri="{BB962C8B-B14F-4D97-AF65-F5344CB8AC3E}">
        <p14:creationId xmlns:p14="http://schemas.microsoft.com/office/powerpoint/2010/main" val="1358511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800" b="1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/>
              <a:t>28PT Intel Clear Font Title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820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  <a:prstGeom prst="rect">
            <a:avLst/>
          </a:prstGeo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4"/>
            <a:ext cx="4006851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/>
              <a:t>16pt Intel Clear bullet one</a:t>
            </a:r>
          </a:p>
          <a:p>
            <a:pPr lvl="2"/>
            <a:r>
              <a:rPr lang="en-US" err="1"/>
              <a:t>14pt</a:t>
            </a:r>
            <a:r>
              <a:rPr lang="en-US"/>
              <a:t> Intel Clear third level</a:t>
            </a:r>
          </a:p>
          <a:p>
            <a:pPr lvl="3"/>
            <a:r>
              <a:rPr lang="en-US" err="1"/>
              <a:t>12pt</a:t>
            </a:r>
            <a:r>
              <a:rPr lang="en-US"/>
              <a:t> Intel Clear fourth level</a:t>
            </a:r>
          </a:p>
          <a:p>
            <a:pPr lvl="4"/>
            <a:r>
              <a:rPr lang="en-US" err="1"/>
              <a:t>12pt</a:t>
            </a:r>
            <a:r>
              <a:rPr lang="en-US"/>
              <a:t> Intel Clear fifth level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830763" y="943430"/>
            <a:ext cx="3181123" cy="16709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sz="1800">
                <a:latin typeface="Intel Clear"/>
              </a:defRPr>
            </a:lvl1pPr>
          </a:lstStyle>
          <a:p>
            <a:r>
              <a:rPr lang="en-US" sz="1100">
                <a:latin typeface="Arial"/>
              </a:rPr>
              <a:t>Click icon to add picture</a:t>
            </a:r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4830763" y="2843897"/>
            <a:ext cx="3181123" cy="16709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sz="1800">
                <a:latin typeface="Intel Clear"/>
              </a:defRPr>
            </a:lvl1pPr>
          </a:lstStyle>
          <a:p>
            <a:r>
              <a:rPr lang="en-US" sz="1100">
                <a:latin typeface="Arial"/>
              </a:rPr>
              <a:t>Click icon to add picture</a:t>
            </a:r>
          </a:p>
        </p:txBody>
      </p:sp>
      <p:sp>
        <p:nvSpPr>
          <p:cNvPr id="11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>
              <a:defRPr sz="4400" b="0" i="0" baseline="0">
                <a:solidFill>
                  <a:schemeClr val="tx2"/>
                </a:solidFill>
                <a:latin typeface="Intel Clear Pro" panose="020B0804020202060201" pitchFamily="34" charset="0"/>
                <a:ea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/>
              <a:t>44pt Intel Clear Pro Headline</a:t>
            </a:r>
          </a:p>
        </p:txBody>
      </p:sp>
    </p:spTree>
    <p:extLst>
      <p:ext uri="{BB962C8B-B14F-4D97-AF65-F5344CB8AC3E}">
        <p14:creationId xmlns:p14="http://schemas.microsoft.com/office/powerpoint/2010/main" val="2598914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  <a:prstGeom prst="rect">
            <a:avLst/>
          </a:prstGeo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4"/>
            <a:ext cx="4006851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/>
              <a:t>16pt Intel Clear bullet one</a:t>
            </a:r>
          </a:p>
          <a:p>
            <a:pPr lvl="2"/>
            <a:r>
              <a:rPr lang="en-US" err="1"/>
              <a:t>14pt</a:t>
            </a:r>
            <a:r>
              <a:rPr lang="en-US"/>
              <a:t> Intel Clear third level</a:t>
            </a:r>
          </a:p>
          <a:p>
            <a:pPr lvl="3"/>
            <a:r>
              <a:rPr lang="en-US" err="1"/>
              <a:t>12pt</a:t>
            </a:r>
            <a:r>
              <a:rPr lang="en-US"/>
              <a:t> Intel Clear fourth level</a:t>
            </a:r>
          </a:p>
          <a:p>
            <a:pPr lvl="4"/>
            <a:r>
              <a:rPr lang="en-US" err="1"/>
              <a:t>12pt</a:t>
            </a:r>
            <a:r>
              <a:rPr lang="en-US"/>
              <a:t> Intel Clear 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678363" y="1203324"/>
            <a:ext cx="4005264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/>
              <a:t>16pt Intel Clear bullet one</a:t>
            </a:r>
          </a:p>
          <a:p>
            <a:pPr lvl="2"/>
            <a:r>
              <a:rPr lang="en-US" err="1"/>
              <a:t>14pt</a:t>
            </a:r>
            <a:r>
              <a:rPr lang="en-US"/>
              <a:t> Intel Clear third level</a:t>
            </a:r>
          </a:p>
          <a:p>
            <a:pPr lvl="3"/>
            <a:r>
              <a:rPr lang="en-US" err="1"/>
              <a:t>12pt</a:t>
            </a:r>
            <a:r>
              <a:rPr lang="en-US"/>
              <a:t> Intel Clear fourth level</a:t>
            </a:r>
          </a:p>
          <a:p>
            <a:pPr lvl="4"/>
            <a:r>
              <a:rPr lang="en-US" err="1"/>
              <a:t>12pt</a:t>
            </a:r>
            <a:r>
              <a:rPr lang="en-US"/>
              <a:t> Intel Clear fifth level</a:t>
            </a:r>
          </a:p>
        </p:txBody>
      </p:sp>
      <p:sp>
        <p:nvSpPr>
          <p:cNvPr id="9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>
              <a:defRPr sz="4400" b="0" i="0" baseline="0">
                <a:solidFill>
                  <a:schemeClr val="tx2"/>
                </a:solidFill>
                <a:latin typeface="Intel Clear Pro" panose="020B0804020202060201" pitchFamily="34" charset="0"/>
                <a:ea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/>
              <a:t>44pt Intel Clear Pro Headline</a:t>
            </a:r>
          </a:p>
        </p:txBody>
      </p:sp>
    </p:spTree>
    <p:extLst>
      <p:ext uri="{BB962C8B-B14F-4D97-AF65-F5344CB8AC3E}">
        <p14:creationId xmlns:p14="http://schemas.microsoft.com/office/powerpoint/2010/main" val="4062063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Attribu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5613" y="1203325"/>
            <a:ext cx="8228013" cy="3425825"/>
          </a:xfrm>
        </p:spPr>
        <p:txBody>
          <a:bodyPr anchor="ctr" anchorCtr="0"/>
          <a:lstStyle>
            <a:lvl1pPr marL="190500" indent="-190500">
              <a:defRPr sz="3600" b="1" baseline="0">
                <a:solidFill>
                  <a:schemeClr val="accent1"/>
                </a:solidFill>
                <a:latin typeface="+mn-lt"/>
                <a:cs typeface="Intel Clear"/>
              </a:defRPr>
            </a:lvl1pPr>
            <a:lvl2pPr marL="417513" indent="-225425">
              <a:buFont typeface="Intel Clear" pitchFamily="34" charset="0"/>
              <a:buChar char="–"/>
              <a:defRPr sz="1200" baseline="0">
                <a:latin typeface="+mn-lt"/>
                <a:cs typeface="Intel Clear" panose="020B0604020203020204" pitchFamily="34" charset="0"/>
              </a:defRPr>
            </a:lvl2pPr>
            <a:lvl3pPr marL="685800" indent="-228600">
              <a:buFont typeface="Intel Clear" pitchFamily="34" charset="0"/>
              <a:buChar char="–"/>
              <a:defRPr sz="1200">
                <a:latin typeface="+mn-lt"/>
              </a:defRPr>
            </a:lvl3pPr>
            <a:lvl4pPr>
              <a:buFont typeface="Intel Clear" pitchFamily="34" charset="0"/>
              <a:buChar char="–"/>
              <a:defRPr sz="1100">
                <a:latin typeface="+mn-lt"/>
              </a:defRPr>
            </a:lvl4pPr>
            <a:lvl5pPr>
              <a:buFont typeface="Intel Clear" pitchFamily="34" charset="0"/>
              <a:buChar char="–"/>
              <a:defRPr sz="1050">
                <a:latin typeface="+mn-lt"/>
              </a:defRPr>
            </a:lvl5pPr>
          </a:lstStyle>
          <a:p>
            <a:pPr lvl="0"/>
            <a:r>
              <a:rPr lang="en-US"/>
              <a:t>“36pt Intel Clear Bold Text”</a:t>
            </a:r>
          </a:p>
          <a:p>
            <a:pPr lvl="1"/>
            <a:r>
              <a:rPr lang="en-US" err="1"/>
              <a:t>12pt</a:t>
            </a:r>
            <a:r>
              <a:rPr lang="en-US"/>
              <a:t> Attribution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  <a:prstGeom prst="rect">
            <a:avLst/>
          </a:prstGeo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>
              <a:defRPr sz="4400" b="0" i="0" baseline="0">
                <a:solidFill>
                  <a:schemeClr val="tx2"/>
                </a:solidFill>
                <a:latin typeface="Intel Clear Pro" panose="020B0804020202060201" pitchFamily="34" charset="0"/>
                <a:ea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/>
              <a:t>44pt Intel Clear Pro Headline</a:t>
            </a:r>
          </a:p>
        </p:txBody>
      </p:sp>
    </p:spTree>
    <p:extLst>
      <p:ext uri="{BB962C8B-B14F-4D97-AF65-F5344CB8AC3E}">
        <p14:creationId xmlns:p14="http://schemas.microsoft.com/office/powerpoint/2010/main" val="1192946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47688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/>
              <a:t>Insert photo here. Drag picture to placeholder or click icon to add.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  <a:prstGeom prst="rect">
            <a:avLst/>
          </a:prstGeo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>
              <a:defRPr sz="4400" b="0" i="0" baseline="0">
                <a:solidFill>
                  <a:schemeClr val="tx2"/>
                </a:solidFill>
                <a:latin typeface="Intel Clear Pro" panose="020B0804020202060201" pitchFamily="34" charset="0"/>
                <a:ea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/>
              <a:t>44pt Intel Clear Pro Headline</a:t>
            </a:r>
          </a:p>
        </p:txBody>
      </p:sp>
    </p:spTree>
    <p:extLst>
      <p:ext uri="{BB962C8B-B14F-4D97-AF65-F5344CB8AC3E}">
        <p14:creationId xmlns:p14="http://schemas.microsoft.com/office/powerpoint/2010/main" val="3638207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Bottom Half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2574131"/>
            <a:ext cx="9144000" cy="2194719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/>
              <a:t>Insert photo here. Drag picture to placeholder or click icon to add.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  <a:prstGeom prst="rect">
            <a:avLst/>
          </a:prstGeo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5"/>
            <a:ext cx="4006851" cy="130929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/>
              <a:t>16pt Intel Clear bullet one</a:t>
            </a:r>
          </a:p>
          <a:p>
            <a:pPr lvl="2"/>
            <a:r>
              <a:rPr lang="en-US" err="1"/>
              <a:t>14pt</a:t>
            </a:r>
            <a:r>
              <a:rPr lang="en-US"/>
              <a:t> Intel Clear third level</a:t>
            </a:r>
          </a:p>
          <a:p>
            <a:pPr lvl="3"/>
            <a:r>
              <a:rPr lang="en-US" err="1"/>
              <a:t>12pt</a:t>
            </a:r>
            <a:r>
              <a:rPr lang="en-US"/>
              <a:t> Intel Clear fourth level</a:t>
            </a:r>
          </a:p>
          <a:p>
            <a:pPr lvl="4"/>
            <a:r>
              <a:rPr lang="en-US" err="1"/>
              <a:t>12pt</a:t>
            </a:r>
            <a:r>
              <a:rPr lang="en-US"/>
              <a:t> Intel Clear fifth level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5" hasCustomPrompt="1"/>
          </p:nvPr>
        </p:nvSpPr>
        <p:spPr>
          <a:xfrm>
            <a:off x="4678363" y="1203325"/>
            <a:ext cx="4005264" cy="130929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/>
              <a:t>16pt Intel Clear bullet one</a:t>
            </a:r>
          </a:p>
          <a:p>
            <a:pPr lvl="2"/>
            <a:r>
              <a:rPr lang="en-US" err="1"/>
              <a:t>14pt</a:t>
            </a:r>
            <a:r>
              <a:rPr lang="en-US"/>
              <a:t> Intel Clear third level</a:t>
            </a:r>
          </a:p>
          <a:p>
            <a:pPr lvl="3"/>
            <a:r>
              <a:rPr lang="en-US" err="1"/>
              <a:t>12pt</a:t>
            </a:r>
            <a:r>
              <a:rPr lang="en-US"/>
              <a:t> Intel Clear fourth level</a:t>
            </a:r>
          </a:p>
          <a:p>
            <a:pPr lvl="4"/>
            <a:r>
              <a:rPr lang="en-US" err="1"/>
              <a:t>12pt</a:t>
            </a:r>
            <a:r>
              <a:rPr lang="en-US"/>
              <a:t> Intel Clear fifth level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1009487" y="4975795"/>
            <a:ext cx="1846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00">
              <a:solidFill>
                <a:schemeClr val="tx2"/>
              </a:solidFill>
              <a:cs typeface="Intel Clear"/>
            </a:endParaRPr>
          </a:p>
        </p:txBody>
      </p:sp>
      <p:sp>
        <p:nvSpPr>
          <p:cNvPr id="11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>
              <a:defRPr sz="4400" b="0" i="0" baseline="0">
                <a:solidFill>
                  <a:schemeClr val="tx2"/>
                </a:solidFill>
                <a:latin typeface="Intel Clear Pro" panose="020B0804020202060201" pitchFamily="34" charset="0"/>
                <a:ea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/>
              <a:t>44pt Intel Clear Pro Headline</a:t>
            </a:r>
          </a:p>
        </p:txBody>
      </p:sp>
    </p:spTree>
    <p:extLst>
      <p:ext uri="{BB962C8B-B14F-4D97-AF65-F5344CB8AC3E}">
        <p14:creationId xmlns:p14="http://schemas.microsoft.com/office/powerpoint/2010/main" val="2392689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4678363" y="1"/>
            <a:ext cx="4465637" cy="4768849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Insert photo here. Drag picture to placeholder or click icon to add.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  <a:prstGeom prst="rect">
            <a:avLst/>
          </a:prstGeo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4" y="1325244"/>
            <a:ext cx="4006850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/>
              <a:t>16pt Intel Clear bullet one</a:t>
            </a:r>
          </a:p>
          <a:p>
            <a:pPr lvl="2"/>
            <a:r>
              <a:rPr lang="en-US" err="1"/>
              <a:t>14pt</a:t>
            </a:r>
            <a:r>
              <a:rPr lang="en-US"/>
              <a:t> Intel Clear third level</a:t>
            </a:r>
          </a:p>
          <a:p>
            <a:pPr lvl="3"/>
            <a:r>
              <a:rPr lang="en-US" err="1"/>
              <a:t>12pt</a:t>
            </a:r>
            <a:r>
              <a:rPr lang="en-US"/>
              <a:t> Intel Clear fourth level</a:t>
            </a:r>
          </a:p>
          <a:p>
            <a:pPr lvl="4"/>
            <a:r>
              <a:rPr lang="en-US" err="1"/>
              <a:t>12pt</a:t>
            </a:r>
            <a:r>
              <a:rPr lang="en-US"/>
              <a:t> Intel Clear 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>
              <a:defRPr sz="4400" b="0" i="0" baseline="0">
                <a:solidFill>
                  <a:schemeClr val="tx2"/>
                </a:solidFill>
                <a:latin typeface="Intel Clear Pro" panose="020B0804020202060201" pitchFamily="34" charset="0"/>
                <a:ea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/>
              <a:t>44pt Intel Clear Pro </a:t>
            </a:r>
          </a:p>
        </p:txBody>
      </p:sp>
    </p:spTree>
    <p:extLst>
      <p:ext uri="{BB962C8B-B14F-4D97-AF65-F5344CB8AC3E}">
        <p14:creationId xmlns:p14="http://schemas.microsoft.com/office/powerpoint/2010/main" val="2900421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tx2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/>
              <a:t>54pt Intel Clear Pro</a:t>
            </a:r>
            <a:br>
              <a:rPr lang="en-US"/>
            </a:br>
            <a:r>
              <a:rPr lang="en-US"/>
              <a:t>white section break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baseline="0">
                <a:solidFill>
                  <a:schemeClr val="accent2"/>
                </a:solidFill>
                <a:latin typeface="+mn-lt"/>
                <a:cs typeface="Intel Clear" panose="020B0604020203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16pt Intel Clear Subhead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72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/>
              <a:t>54pt Intel Clear Pro</a:t>
            </a:r>
            <a:br>
              <a:rPr lang="en-US"/>
            </a:br>
            <a:r>
              <a:rPr lang="en-US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16pt Intel Clear Subhead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872352" y="4824387"/>
            <a:ext cx="2133600" cy="273844"/>
          </a:xfrm>
          <a:prstGeom prst="rect">
            <a:avLst/>
          </a:prstGeo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112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2234882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0" baseline="0">
                <a:solidFill>
                  <a:schemeClr val="accent2"/>
                </a:solidFill>
                <a:latin typeface="Intel Clear"/>
                <a:ea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40pt Intel Clear Light Body.</a:t>
            </a:r>
            <a:br>
              <a:rPr lang="en-US"/>
            </a:br>
            <a:r>
              <a:rPr lang="en-US"/>
              <a:t>For content that is not a section, but has a big idea in text only.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6"/>
          <p:cNvSpPr>
            <a:spLocks noGrp="1"/>
          </p:cNvSpPr>
          <p:nvPr>
            <p:ph type="title" hasCustomPrompt="1"/>
          </p:nvPr>
        </p:nvSpPr>
        <p:spPr>
          <a:xfrm>
            <a:off x="454819" y="1366202"/>
            <a:ext cx="8229600" cy="868680"/>
          </a:xfrm>
        </p:spPr>
        <p:txBody>
          <a:bodyPr/>
          <a:lstStyle>
            <a:lvl1pPr>
              <a:defRPr sz="4400" b="0" i="0" baseline="0">
                <a:solidFill>
                  <a:schemeClr val="tx2"/>
                </a:solidFill>
                <a:latin typeface="Intel Clear Pro" panose="020B0804020202060201" pitchFamily="34" charset="0"/>
                <a:ea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/>
              <a:t>44pt Intel Clear Pro Headline</a:t>
            </a:r>
          </a:p>
        </p:txBody>
      </p:sp>
    </p:spTree>
    <p:extLst>
      <p:ext uri="{BB962C8B-B14F-4D97-AF65-F5344CB8AC3E}">
        <p14:creationId xmlns:p14="http://schemas.microsoft.com/office/powerpoint/2010/main" val="4001256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Section Break Image">
    <p:bg>
      <p:bgPr>
        <a:gradFill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2260088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/>
              <a:t>54pt Intel Clear Pro blue section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3348787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baseline="0">
                <a:solidFill>
                  <a:schemeClr val="accent3"/>
                </a:solidFill>
                <a:latin typeface="+mn-lt"/>
                <a:cs typeface="Intel Clear" panose="020B0604020203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16pt Intel Clear Subhead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9144000" cy="2574131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baseline="0">
                <a:solidFill>
                  <a:srgbClr val="0071C5"/>
                </a:solidFill>
              </a:defRPr>
            </a:lvl1pPr>
          </a:lstStyle>
          <a:p>
            <a:r>
              <a:rPr lang="en-US"/>
              <a:t>Insert photo here. Drag picture to placeholder or click icon to add.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6872352" y="4824387"/>
            <a:ext cx="2133600" cy="273844"/>
          </a:xfrm>
          <a:prstGeom prst="rect">
            <a:avLst/>
          </a:prstGeo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762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  <a:prstGeom prst="rect">
            <a:avLst/>
          </a:prstGeo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>
              <a:defRPr sz="4400" b="0" i="0" baseline="0">
                <a:solidFill>
                  <a:schemeClr val="tx2"/>
                </a:solidFill>
                <a:latin typeface="Intel Clear Pro" panose="020B0804020202060201" pitchFamily="34" charset="0"/>
                <a:ea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/>
              <a:t>44pt Intel Clear Pro Headline</a:t>
            </a:r>
          </a:p>
        </p:txBody>
      </p:sp>
    </p:spTree>
    <p:extLst>
      <p:ext uri="{BB962C8B-B14F-4D97-AF65-F5344CB8AC3E}">
        <p14:creationId xmlns:p14="http://schemas.microsoft.com/office/powerpoint/2010/main" val="413716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  <a:prstGeom prst="rect">
            <a:avLst/>
          </a:prstGeo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961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ack Cover Radial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\\.psf\Home\Desktop\Inte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7432" y="1875130"/>
            <a:ext cx="2108795" cy="138988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 userDrawn="1"/>
        </p:nvSpPr>
        <p:spPr>
          <a:xfrm>
            <a:off x="3477433" y="3551710"/>
            <a:ext cx="2108794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>
                <a:solidFill>
                  <a:schemeClr val="bg1"/>
                </a:solidFill>
              </a:rPr>
              <a:t>Goto/</a:t>
            </a:r>
            <a:r>
              <a:rPr lang="en-US" sz="1100" err="1">
                <a:solidFill>
                  <a:schemeClr val="bg1"/>
                </a:solidFill>
              </a:rPr>
              <a:t>iVE</a:t>
            </a:r>
            <a:endParaRPr lang="en-US" sz="11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7009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/>
            </a:lvl1pPr>
            <a:lvl2pPr>
              <a:lnSpc>
                <a:spcPct val="100000"/>
              </a:lnSpc>
              <a:spcBef>
                <a:spcPts val="600"/>
              </a:spcBef>
              <a:defRPr/>
            </a:lvl2pPr>
            <a:lvl3pPr marL="744352" indent="-174581">
              <a:lnSpc>
                <a:spcPct val="100000"/>
              </a:lnSpc>
              <a:spcBef>
                <a:spcPts val="600"/>
              </a:spcBef>
              <a:defRPr/>
            </a:lvl3pPr>
          </a:lstStyle>
          <a:p>
            <a:pPr lvl="0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5137" y="4759452"/>
            <a:ext cx="9144000" cy="384048"/>
          </a:xfrm>
          <a:prstGeom prst="rect">
            <a:avLst/>
          </a:prstGeom>
          <a:gradFill flip="none" rotWithShape="1">
            <a:gsLst>
              <a:gs pos="32000">
                <a:srgbClr val="003C71"/>
              </a:gs>
              <a:gs pos="95000">
                <a:srgbClr val="009FDF"/>
              </a:gs>
              <a:gs pos="78000">
                <a:srgbClr val="0071C5"/>
              </a:gs>
            </a:gsLst>
            <a:lin ang="19860000" scaled="0"/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l Clear"/>
              <a:ea typeface="+mn-ea"/>
              <a:cs typeface="+mn-cs"/>
            </a:endParaRPr>
          </a:p>
        </p:txBody>
      </p:sp>
      <p:sp>
        <p:nvSpPr>
          <p:cNvPr id="5" name="Slide Number Placeholder 5"/>
          <p:cNvSpPr txBox="1">
            <a:spLocks/>
          </p:cNvSpPr>
          <p:nvPr userDrawn="1"/>
        </p:nvSpPr>
        <p:spPr>
          <a:xfrm>
            <a:off x="6872352" y="4824387"/>
            <a:ext cx="2133600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bg1"/>
                </a:solidFill>
                <a:latin typeface="+mn-lt"/>
                <a:ea typeface="+mn-ea"/>
                <a:cs typeface="Intel Clear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2556C5-CE8C-6547-B838-EA80C61A4A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ntel Clear"/>
                <a:ea typeface="+mn-ea"/>
                <a:cs typeface="Intel Clear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l Clear"/>
              <a:ea typeface="+mn-ea"/>
              <a:cs typeface="Intel Clear"/>
            </a:endParaRPr>
          </a:p>
        </p:txBody>
      </p:sp>
      <p:sp>
        <p:nvSpPr>
          <p:cNvPr id="7" name="Footer Placeholder 7"/>
          <p:cNvSpPr txBox="1">
            <a:spLocks/>
          </p:cNvSpPr>
          <p:nvPr userDrawn="1"/>
        </p:nvSpPr>
        <p:spPr>
          <a:xfrm>
            <a:off x="3026569" y="4825464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Intel Confidential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190557" y="4827543"/>
            <a:ext cx="4152658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i="0" spc="50" baseline="0">
                <a:solidFill>
                  <a:schemeClr val="tx1"/>
                </a:solidFill>
                <a:latin typeface="Intel Clear Pro" panose="020B0804020202060201" pitchFamily="34" charset="0"/>
                <a:ea typeface="Intel Clear Pro" panose="020B0804020202060201" pitchFamily="34" charset="0"/>
                <a:cs typeface="Intel Clear Pro" panose="020B0804020202060201" pitchFamily="34" charset="0"/>
              </a:rPr>
              <a:t>Intel Validation Engineering (</a:t>
            </a:r>
            <a:r>
              <a:rPr lang="en-US" sz="1200" i="0" spc="50" baseline="0" err="1">
                <a:solidFill>
                  <a:schemeClr val="tx1"/>
                </a:solidFill>
                <a:latin typeface="+mn-lt"/>
                <a:ea typeface="Intel Clear Pro" panose="020B0804020202060201" pitchFamily="34" charset="0"/>
                <a:cs typeface="Intel Clear Pro" panose="020B0804020202060201" pitchFamily="34" charset="0"/>
              </a:rPr>
              <a:t>i</a:t>
            </a:r>
            <a:r>
              <a:rPr lang="en-US" sz="1200" i="0" spc="50" baseline="0" err="1">
                <a:solidFill>
                  <a:schemeClr val="tx1"/>
                </a:solidFill>
                <a:latin typeface="Intel Clear Pro" panose="020B0804020202060201" pitchFamily="34" charset="0"/>
                <a:ea typeface="Intel Clear Pro" panose="020B0804020202060201" pitchFamily="34" charset="0"/>
                <a:cs typeface="Intel Clear Pro" panose="020B0804020202060201" pitchFamily="34" charset="0"/>
              </a:rPr>
              <a:t>VE</a:t>
            </a:r>
            <a:r>
              <a:rPr lang="en-US" sz="1200" i="0">
                <a:solidFill>
                  <a:schemeClr val="tx1"/>
                </a:solidFill>
                <a:latin typeface="Intel Clear Pro" panose="020B0804020202060201" pitchFamily="34" charset="0"/>
                <a:ea typeface="Intel Clear Pro" panose="020B0804020202060201" pitchFamily="34" charset="0"/>
                <a:cs typeface="Intel Clear Pro" panose="020B0804020202060201" pitchFamily="34" charset="0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00" b="1" u="none">
                <a:solidFill>
                  <a:schemeClr val="tx1"/>
                </a:solidFill>
                <a:ea typeface="Intel Clear" panose="020B0604020203020204" pitchFamily="34" charset="0"/>
              </a:rPr>
              <a:t>Engineering </a:t>
            </a:r>
            <a:r>
              <a:rPr lang="en-US" sz="500" b="1">
                <a:solidFill>
                  <a:schemeClr val="tx1"/>
                </a:solidFill>
                <a:ea typeface="Intel Clear" panose="020B0604020203020204" pitchFamily="34" charset="0"/>
              </a:rPr>
              <a:t>Intel’s promise of highest quality and performance</a:t>
            </a:r>
            <a:endParaRPr lang="en-US" sz="5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0366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ulle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/>
            </a:lvl1pPr>
            <a:lvl2pPr>
              <a:lnSpc>
                <a:spcPct val="100000"/>
              </a:lnSpc>
              <a:spcBef>
                <a:spcPts val="600"/>
              </a:spcBef>
              <a:defRPr/>
            </a:lvl2pPr>
            <a:lvl3pPr marL="744352" indent="-174581">
              <a:lnSpc>
                <a:spcPct val="100000"/>
              </a:lnSpc>
              <a:spcBef>
                <a:spcPts val="600"/>
              </a:spcBef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5137" y="4759452"/>
            <a:ext cx="9144000" cy="384048"/>
          </a:xfrm>
          <a:prstGeom prst="rect">
            <a:avLst/>
          </a:prstGeom>
          <a:gradFill flip="none" rotWithShape="1">
            <a:gsLst>
              <a:gs pos="32000">
                <a:srgbClr val="003C71"/>
              </a:gs>
              <a:gs pos="95000">
                <a:srgbClr val="009FDF"/>
              </a:gs>
              <a:gs pos="78000">
                <a:srgbClr val="0071C5"/>
              </a:gs>
            </a:gsLst>
            <a:lin ang="19860000" scaled="0"/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l Clear"/>
              <a:ea typeface="+mn-ea"/>
              <a:cs typeface="+mn-cs"/>
            </a:endParaRPr>
          </a:p>
        </p:txBody>
      </p:sp>
      <p:sp>
        <p:nvSpPr>
          <p:cNvPr id="5" name="Slide Number Placeholder 5"/>
          <p:cNvSpPr txBox="1">
            <a:spLocks/>
          </p:cNvSpPr>
          <p:nvPr userDrawn="1"/>
        </p:nvSpPr>
        <p:spPr>
          <a:xfrm>
            <a:off x="6872352" y="4824387"/>
            <a:ext cx="2133600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bg1"/>
                </a:solidFill>
                <a:latin typeface="+mn-lt"/>
                <a:ea typeface="+mn-ea"/>
                <a:cs typeface="Intel Clear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2556C5-CE8C-6547-B838-EA80C61A4A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ntel Clear"/>
                <a:ea typeface="+mn-ea"/>
                <a:cs typeface="Intel Clear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l Clear"/>
              <a:ea typeface="+mn-ea"/>
              <a:cs typeface="Intel Clear"/>
            </a:endParaRPr>
          </a:p>
        </p:txBody>
      </p:sp>
      <p:sp>
        <p:nvSpPr>
          <p:cNvPr id="7" name="Footer Placeholder 7"/>
          <p:cNvSpPr txBox="1">
            <a:spLocks/>
          </p:cNvSpPr>
          <p:nvPr userDrawn="1"/>
        </p:nvSpPr>
        <p:spPr>
          <a:xfrm>
            <a:off x="3026569" y="4825464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Intel Confidential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190557" y="4827543"/>
            <a:ext cx="4152658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i="0" spc="50" baseline="0">
                <a:solidFill>
                  <a:schemeClr val="tx1"/>
                </a:solidFill>
                <a:latin typeface="Intel Clear Pro" panose="020B0804020202060201" pitchFamily="34" charset="0"/>
                <a:ea typeface="Intel Clear Pro" panose="020B0804020202060201" pitchFamily="34" charset="0"/>
                <a:cs typeface="Intel Clear Pro" panose="020B0804020202060201" pitchFamily="34" charset="0"/>
              </a:rPr>
              <a:t>Intel Validation Engineering (</a:t>
            </a:r>
            <a:r>
              <a:rPr lang="en-US" sz="1200" i="0" spc="50" baseline="0" err="1">
                <a:solidFill>
                  <a:schemeClr val="tx1"/>
                </a:solidFill>
                <a:latin typeface="+mn-lt"/>
                <a:ea typeface="Intel Clear Pro" panose="020B0804020202060201" pitchFamily="34" charset="0"/>
                <a:cs typeface="Intel Clear Pro" panose="020B0804020202060201" pitchFamily="34" charset="0"/>
              </a:rPr>
              <a:t>i</a:t>
            </a:r>
            <a:r>
              <a:rPr lang="en-US" sz="1200" i="0" spc="50" baseline="0" err="1">
                <a:solidFill>
                  <a:schemeClr val="tx1"/>
                </a:solidFill>
                <a:latin typeface="Intel Clear Pro" panose="020B0804020202060201" pitchFamily="34" charset="0"/>
                <a:ea typeface="Intel Clear Pro" panose="020B0804020202060201" pitchFamily="34" charset="0"/>
                <a:cs typeface="Intel Clear Pro" panose="020B0804020202060201" pitchFamily="34" charset="0"/>
              </a:rPr>
              <a:t>VE</a:t>
            </a:r>
            <a:r>
              <a:rPr lang="en-US" sz="1200" i="0">
                <a:solidFill>
                  <a:schemeClr val="tx1"/>
                </a:solidFill>
                <a:latin typeface="Intel Clear Pro" panose="020B0804020202060201" pitchFamily="34" charset="0"/>
                <a:ea typeface="Intel Clear Pro" panose="020B0804020202060201" pitchFamily="34" charset="0"/>
                <a:cs typeface="Intel Clear Pro" panose="020B0804020202060201" pitchFamily="34" charset="0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00" b="1" u="none">
                <a:solidFill>
                  <a:schemeClr val="tx1"/>
                </a:solidFill>
                <a:ea typeface="Intel Clear" panose="020B0604020203020204" pitchFamily="34" charset="0"/>
              </a:rPr>
              <a:t>Engineering </a:t>
            </a:r>
            <a:r>
              <a:rPr lang="en-US" sz="500" b="1">
                <a:solidFill>
                  <a:schemeClr val="tx1"/>
                </a:solidFill>
                <a:ea typeface="Intel Clear" panose="020B0604020203020204" pitchFamily="34" charset="0"/>
              </a:rPr>
              <a:t>Intel’s promise of highest quality and performance</a:t>
            </a:r>
            <a:endParaRPr lang="en-US" sz="5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9301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/>
          <p:nvPr userDrawn="1"/>
        </p:nvSpPr>
        <p:spPr>
          <a:xfrm>
            <a:off x="5137" y="4759452"/>
            <a:ext cx="9144000" cy="384048"/>
          </a:xfrm>
          <a:prstGeom prst="rect">
            <a:avLst/>
          </a:prstGeom>
          <a:gradFill flip="none" rotWithShape="1">
            <a:gsLst>
              <a:gs pos="32000">
                <a:srgbClr val="003C71"/>
              </a:gs>
              <a:gs pos="95000">
                <a:srgbClr val="009FDF"/>
              </a:gs>
              <a:gs pos="78000">
                <a:srgbClr val="0071C5"/>
              </a:gs>
            </a:gsLst>
            <a:lin ang="19860000" scaled="0"/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l Clear"/>
              <a:ea typeface="+mn-ea"/>
              <a:cs typeface="+mn-cs"/>
            </a:endParaRPr>
          </a:p>
        </p:txBody>
      </p:sp>
      <p:sp>
        <p:nvSpPr>
          <p:cNvPr id="4" name="Slide Number Placeholder 5"/>
          <p:cNvSpPr txBox="1">
            <a:spLocks/>
          </p:cNvSpPr>
          <p:nvPr userDrawn="1"/>
        </p:nvSpPr>
        <p:spPr>
          <a:xfrm>
            <a:off x="6872352" y="4824387"/>
            <a:ext cx="2133600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bg1"/>
                </a:solidFill>
                <a:latin typeface="+mn-lt"/>
                <a:ea typeface="+mn-ea"/>
                <a:cs typeface="Intel Clear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2556C5-CE8C-6547-B838-EA80C61A4A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ntel Clear"/>
                <a:ea typeface="+mn-ea"/>
                <a:cs typeface="Intel Clear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l Clear"/>
              <a:ea typeface="+mn-ea"/>
              <a:cs typeface="Intel Clear"/>
            </a:endParaRPr>
          </a:p>
        </p:txBody>
      </p:sp>
      <p:sp>
        <p:nvSpPr>
          <p:cNvPr id="6" name="Footer Placeholder 7"/>
          <p:cNvSpPr txBox="1">
            <a:spLocks/>
          </p:cNvSpPr>
          <p:nvPr userDrawn="1"/>
        </p:nvSpPr>
        <p:spPr>
          <a:xfrm>
            <a:off x="3026569" y="4825464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Intel Confidential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190557" y="4827543"/>
            <a:ext cx="4152658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i="0" spc="50" baseline="0">
                <a:solidFill>
                  <a:schemeClr val="tx1"/>
                </a:solidFill>
                <a:latin typeface="Intel Clear Pro" panose="020B0804020202060201" pitchFamily="34" charset="0"/>
                <a:ea typeface="Intel Clear Pro" panose="020B0804020202060201" pitchFamily="34" charset="0"/>
                <a:cs typeface="Intel Clear Pro" panose="020B0804020202060201" pitchFamily="34" charset="0"/>
              </a:rPr>
              <a:t>Intel Validation Engineering (</a:t>
            </a:r>
            <a:r>
              <a:rPr lang="en-US" sz="1200" i="0" spc="50" baseline="0" err="1">
                <a:solidFill>
                  <a:schemeClr val="tx1"/>
                </a:solidFill>
                <a:latin typeface="+mn-lt"/>
                <a:ea typeface="Intel Clear Pro" panose="020B0804020202060201" pitchFamily="34" charset="0"/>
                <a:cs typeface="Intel Clear Pro" panose="020B0804020202060201" pitchFamily="34" charset="0"/>
              </a:rPr>
              <a:t>i</a:t>
            </a:r>
            <a:r>
              <a:rPr lang="en-US" sz="1200" i="0" spc="50" baseline="0" err="1">
                <a:solidFill>
                  <a:schemeClr val="tx1"/>
                </a:solidFill>
                <a:latin typeface="Intel Clear Pro" panose="020B0804020202060201" pitchFamily="34" charset="0"/>
                <a:ea typeface="Intel Clear Pro" panose="020B0804020202060201" pitchFamily="34" charset="0"/>
                <a:cs typeface="Intel Clear Pro" panose="020B0804020202060201" pitchFamily="34" charset="0"/>
              </a:rPr>
              <a:t>VE</a:t>
            </a:r>
            <a:r>
              <a:rPr lang="en-US" sz="1200" i="0">
                <a:solidFill>
                  <a:schemeClr val="tx1"/>
                </a:solidFill>
                <a:latin typeface="Intel Clear Pro" panose="020B0804020202060201" pitchFamily="34" charset="0"/>
                <a:ea typeface="Intel Clear Pro" panose="020B0804020202060201" pitchFamily="34" charset="0"/>
                <a:cs typeface="Intel Clear Pro" panose="020B0804020202060201" pitchFamily="34" charset="0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00" b="1" u="none">
                <a:solidFill>
                  <a:schemeClr val="tx1"/>
                </a:solidFill>
                <a:ea typeface="Intel Clear" panose="020B0604020203020204" pitchFamily="34" charset="0"/>
              </a:rPr>
              <a:t>Engineering </a:t>
            </a:r>
            <a:r>
              <a:rPr lang="en-US" sz="500" b="1">
                <a:solidFill>
                  <a:schemeClr val="tx1"/>
                </a:solidFill>
                <a:ea typeface="Intel Clear" panose="020B0604020203020204" pitchFamily="34" charset="0"/>
              </a:rPr>
              <a:t>Intel’s promise of highest quality and performance</a:t>
            </a:r>
            <a:endParaRPr lang="en-US" sz="5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03769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-1587" y="4759452"/>
            <a:ext cx="9144000" cy="384048"/>
          </a:xfrm>
          <a:prstGeom prst="rect">
            <a:avLst/>
          </a:prstGeom>
          <a:gradFill flip="none" rotWithShape="1">
            <a:gsLst>
              <a:gs pos="32000">
                <a:srgbClr val="003C71"/>
              </a:gs>
              <a:gs pos="95000">
                <a:srgbClr val="009FDF"/>
              </a:gs>
              <a:gs pos="78000">
                <a:srgbClr val="0071C5"/>
              </a:gs>
            </a:gsLst>
            <a:lin ang="19860000" scaled="0"/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l Clear"/>
              <a:ea typeface="+mn-ea"/>
              <a:cs typeface="+mn-cs"/>
            </a:endParaRPr>
          </a:p>
        </p:txBody>
      </p:sp>
      <p:sp>
        <p:nvSpPr>
          <p:cNvPr id="3" name="Slide Number Placeholder 5"/>
          <p:cNvSpPr txBox="1">
            <a:spLocks/>
          </p:cNvSpPr>
          <p:nvPr userDrawn="1"/>
        </p:nvSpPr>
        <p:spPr>
          <a:xfrm>
            <a:off x="6872352" y="4824387"/>
            <a:ext cx="2133600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bg1"/>
                </a:solidFill>
                <a:latin typeface="+mn-lt"/>
                <a:ea typeface="+mn-ea"/>
                <a:cs typeface="Intel Clear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2556C5-CE8C-6547-B838-EA80C61A4A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ntel Clear"/>
                <a:ea typeface="+mn-ea"/>
                <a:cs typeface="Intel Clear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l Clear"/>
              <a:ea typeface="+mn-ea"/>
              <a:cs typeface="Intel Clear"/>
            </a:endParaRPr>
          </a:p>
        </p:txBody>
      </p:sp>
      <p:sp>
        <p:nvSpPr>
          <p:cNvPr id="5" name="Footer Placeholder 7"/>
          <p:cNvSpPr txBox="1">
            <a:spLocks/>
          </p:cNvSpPr>
          <p:nvPr userDrawn="1"/>
        </p:nvSpPr>
        <p:spPr>
          <a:xfrm>
            <a:off x="3026569" y="4825464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Intel Confidential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190557" y="4827543"/>
            <a:ext cx="4152658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i="0" spc="50" baseline="0">
                <a:solidFill>
                  <a:schemeClr val="tx1"/>
                </a:solidFill>
                <a:latin typeface="Intel Clear Pro" panose="020B0804020202060201" pitchFamily="34" charset="0"/>
                <a:ea typeface="Intel Clear Pro" panose="020B0804020202060201" pitchFamily="34" charset="0"/>
                <a:cs typeface="Intel Clear Pro" panose="020B0804020202060201" pitchFamily="34" charset="0"/>
              </a:rPr>
              <a:t>Intel Validation Engineering (</a:t>
            </a:r>
            <a:r>
              <a:rPr lang="en-US" sz="1200" i="0" spc="50" baseline="0" err="1">
                <a:solidFill>
                  <a:schemeClr val="tx1"/>
                </a:solidFill>
                <a:latin typeface="+mn-lt"/>
                <a:ea typeface="Intel Clear Pro" panose="020B0804020202060201" pitchFamily="34" charset="0"/>
                <a:cs typeface="Intel Clear Pro" panose="020B0804020202060201" pitchFamily="34" charset="0"/>
              </a:rPr>
              <a:t>i</a:t>
            </a:r>
            <a:r>
              <a:rPr lang="en-US" sz="1200" i="0" spc="50" baseline="0" err="1">
                <a:solidFill>
                  <a:schemeClr val="tx1"/>
                </a:solidFill>
                <a:latin typeface="Intel Clear Pro" panose="020B0804020202060201" pitchFamily="34" charset="0"/>
                <a:ea typeface="Intel Clear Pro" panose="020B0804020202060201" pitchFamily="34" charset="0"/>
                <a:cs typeface="Intel Clear Pro" panose="020B0804020202060201" pitchFamily="34" charset="0"/>
              </a:rPr>
              <a:t>VE</a:t>
            </a:r>
            <a:r>
              <a:rPr lang="en-US" sz="1200" i="0">
                <a:solidFill>
                  <a:schemeClr val="tx1"/>
                </a:solidFill>
                <a:latin typeface="Intel Clear Pro" panose="020B0804020202060201" pitchFamily="34" charset="0"/>
                <a:ea typeface="Intel Clear Pro" panose="020B0804020202060201" pitchFamily="34" charset="0"/>
                <a:cs typeface="Intel Clear Pro" panose="020B0804020202060201" pitchFamily="34" charset="0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00" b="1" u="none">
                <a:solidFill>
                  <a:schemeClr val="tx1"/>
                </a:solidFill>
                <a:ea typeface="Intel Clear" panose="020B0604020203020204" pitchFamily="34" charset="0"/>
              </a:rPr>
              <a:t>Engineering </a:t>
            </a:r>
            <a:r>
              <a:rPr lang="en-US" sz="500" b="1">
                <a:solidFill>
                  <a:schemeClr val="tx1"/>
                </a:solidFill>
                <a:ea typeface="Intel Clear" panose="020B0604020203020204" pitchFamily="34" charset="0"/>
              </a:rPr>
              <a:t>Intel’s promise of highest quality and performance</a:t>
            </a:r>
            <a:endParaRPr lang="en-US" sz="5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53284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08690" y="1089179"/>
            <a:ext cx="8229600" cy="857250"/>
          </a:xfrm>
          <a:prstGeom prst="rect">
            <a:avLst/>
          </a:prstGeom>
        </p:spPr>
        <p:txBody>
          <a:bodyPr vert="horz" lIns="0" tIns="0" bIns="0" anchor="t"/>
          <a:lstStyle>
            <a:lvl1pPr algn="l">
              <a:lnSpc>
                <a:spcPct val="100000"/>
              </a:lnSpc>
              <a:defRPr lang="en-US" sz="3999" b="1" i="0" kern="1200" baseline="0" dirty="0" smtClean="0">
                <a:solidFill>
                  <a:schemeClr val="tx1"/>
                </a:solidFill>
                <a:latin typeface="+mj-lt"/>
                <a:ea typeface="Intel Clear Light" panose="020B0404020203020204" pitchFamily="34" charset="0"/>
                <a:cs typeface="Intel Clear Light" panose="020B0404020203020204" pitchFamily="34" charset="0"/>
              </a:defRPr>
            </a:lvl1pPr>
          </a:lstStyle>
          <a:p>
            <a:r>
              <a:rPr lang="en-US"/>
              <a:t>Presentation Headline 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9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508690" y="2529049"/>
            <a:ext cx="6973448" cy="527418"/>
          </a:xfrm>
          <a:prstGeom prst="rect">
            <a:avLst/>
          </a:prstGeom>
        </p:spPr>
        <p:txBody>
          <a:bodyPr vert="horz" lIns="0"/>
          <a:lstStyle>
            <a:lvl1pPr marL="0" indent="0">
              <a:buFont typeface="Arial"/>
              <a:buNone/>
              <a:defRPr lang="en-US" sz="2000" kern="1200" dirty="0" smtClean="0">
                <a:solidFill>
                  <a:srgbClr val="FFFFFF"/>
                </a:solidFill>
                <a:latin typeface="+mj-lt"/>
                <a:ea typeface="+mn-ea"/>
                <a:cs typeface="Intel Clear"/>
              </a:defRPr>
            </a:lvl1pPr>
          </a:lstStyle>
          <a:p>
            <a:pPr marL="0" indent="0">
              <a:buFont typeface="Arial"/>
              <a:buNone/>
            </a:pPr>
            <a:r>
              <a:rPr lang="en-US">
                <a:solidFill>
                  <a:srgbClr val="FFFFFF"/>
                </a:solidFill>
                <a:latin typeface="Intel Clear"/>
                <a:cs typeface="Intel Clear"/>
              </a:rPr>
              <a:t>Author/Title Here</a:t>
            </a:r>
          </a:p>
        </p:txBody>
      </p:sp>
      <p:sp>
        <p:nvSpPr>
          <p:cNvPr id="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00223" y="3087849"/>
            <a:ext cx="6973448" cy="914400"/>
          </a:xfrm>
          <a:prstGeom prst="rect">
            <a:avLst/>
          </a:prstGeom>
        </p:spPr>
        <p:txBody>
          <a:bodyPr vert="horz" lIns="0"/>
          <a:lstStyle>
            <a:lvl1pPr marL="0" indent="0">
              <a:buFont typeface="Arial"/>
              <a:buNone/>
              <a:defRPr lang="en-US" sz="2000" kern="1200" baseline="0" dirty="0" smtClean="0">
                <a:solidFill>
                  <a:schemeClr val="bg1">
                    <a:lumMod val="20000"/>
                    <a:lumOff val="80000"/>
                  </a:schemeClr>
                </a:solidFill>
                <a:latin typeface="+mj-lt"/>
                <a:ea typeface="+mn-ea"/>
                <a:cs typeface="Intel Clear"/>
              </a:defRPr>
            </a:lvl1pPr>
          </a:lstStyle>
          <a:p>
            <a:pPr marL="0" indent="0">
              <a:buFont typeface="Arial"/>
              <a:buNone/>
            </a:pPr>
            <a:r>
              <a:rPr lang="en-US">
                <a:solidFill>
                  <a:srgbClr val="FFFFFF"/>
                </a:solidFill>
                <a:latin typeface="Intel Clear"/>
                <a:cs typeface="Intel Clear"/>
              </a:rPr>
              <a:t>Group Name/ Company Name</a:t>
            </a:r>
          </a:p>
        </p:txBody>
      </p:sp>
    </p:spTree>
    <p:extLst>
      <p:ext uri="{BB962C8B-B14F-4D97-AF65-F5344CB8AC3E}">
        <p14:creationId xmlns:p14="http://schemas.microsoft.com/office/powerpoint/2010/main" val="2721389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slideLayout" Target="../slideLayouts/slideLayout20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1587" y="4759452"/>
            <a:ext cx="9144000" cy="384048"/>
          </a:xfrm>
          <a:prstGeom prst="rect">
            <a:avLst/>
          </a:prstGeom>
          <a:gradFill flip="none" rotWithShape="1">
            <a:gsLst>
              <a:gs pos="32000">
                <a:schemeClr val="tx2"/>
              </a:gs>
              <a:gs pos="95000">
                <a:srgbClr val="009FDF"/>
              </a:gs>
              <a:gs pos="78000">
                <a:srgbClr val="0071C5"/>
              </a:gs>
            </a:gsLst>
            <a:lin ang="1986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 descr="\\.psf\Home\Desktop\Intel.png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915" y="4830589"/>
            <a:ext cx="364336" cy="24013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/>
          <p:cNvCxnSpPr/>
          <p:nvPr/>
        </p:nvCxnSpPr>
        <p:spPr>
          <a:xfrm>
            <a:off x="8718551" y="4824510"/>
            <a:ext cx="2381" cy="237744"/>
          </a:xfrm>
          <a:prstGeom prst="line">
            <a:avLst/>
          </a:prstGeom>
          <a:ln w="9525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5613" y="310130"/>
            <a:ext cx="8229600" cy="8686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44pt Intel Clear Pro Headline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5613" y="1203325"/>
            <a:ext cx="8228012" cy="34258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18pt Intel Clear body text</a:t>
            </a:r>
          </a:p>
          <a:p>
            <a:pPr lvl="1"/>
            <a:r>
              <a:rPr lang="en-US"/>
              <a:t>16pt Intel Clear bullet one</a:t>
            </a:r>
          </a:p>
          <a:p>
            <a:pPr lvl="2"/>
            <a:r>
              <a:rPr lang="en-US"/>
              <a:t>16pt Intel Clear sub-bullet</a:t>
            </a:r>
          </a:p>
          <a:p>
            <a:pPr lvl="3"/>
            <a:r>
              <a:rPr lang="en-US" err="1"/>
              <a:t>14pt</a:t>
            </a:r>
            <a:r>
              <a:rPr lang="en-US"/>
              <a:t> Intel Clear fourth level</a:t>
            </a:r>
          </a:p>
          <a:p>
            <a:pPr lvl="4"/>
            <a:r>
              <a:rPr lang="en-US" err="1"/>
              <a:t>14pt</a:t>
            </a:r>
            <a:r>
              <a:rPr lang="en-US"/>
              <a:t> Intel Clear fifth level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190557" y="4827543"/>
            <a:ext cx="4152658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i="0" spc="50" baseline="0">
                <a:solidFill>
                  <a:schemeClr val="bg1"/>
                </a:solidFill>
                <a:latin typeface="Intel Clear Pro" panose="020B0804020202060201" pitchFamily="34" charset="0"/>
                <a:ea typeface="Intel Clear Pro" panose="020B0804020202060201" pitchFamily="34" charset="0"/>
                <a:cs typeface="Intel Clear Pro" panose="020B0804020202060201" pitchFamily="34" charset="0"/>
              </a:rPr>
              <a:t>Intel Validation Engineering (</a:t>
            </a:r>
            <a:r>
              <a:rPr lang="en-US" sz="1200" i="0" spc="50" baseline="0" err="1">
                <a:solidFill>
                  <a:schemeClr val="bg1"/>
                </a:solidFill>
                <a:latin typeface="+mn-lt"/>
                <a:ea typeface="Intel Clear Pro" panose="020B0804020202060201" pitchFamily="34" charset="0"/>
                <a:cs typeface="Intel Clear Pro" panose="020B0804020202060201" pitchFamily="34" charset="0"/>
              </a:rPr>
              <a:t>i</a:t>
            </a:r>
            <a:r>
              <a:rPr lang="en-US" sz="1200" i="0" spc="50" baseline="0" err="1">
                <a:solidFill>
                  <a:schemeClr val="bg1"/>
                </a:solidFill>
                <a:latin typeface="Intel Clear Pro" panose="020B0804020202060201" pitchFamily="34" charset="0"/>
                <a:ea typeface="Intel Clear Pro" panose="020B0804020202060201" pitchFamily="34" charset="0"/>
                <a:cs typeface="Intel Clear Pro" panose="020B0804020202060201" pitchFamily="34" charset="0"/>
              </a:rPr>
              <a:t>VE</a:t>
            </a:r>
            <a:r>
              <a:rPr lang="en-US" sz="1200" i="0">
                <a:solidFill>
                  <a:schemeClr val="bg1"/>
                </a:solidFill>
                <a:latin typeface="Intel Clear Pro" panose="020B0804020202060201" pitchFamily="34" charset="0"/>
                <a:ea typeface="Intel Clear Pro" panose="020B0804020202060201" pitchFamily="34" charset="0"/>
                <a:cs typeface="Intel Clear Pro" panose="020B0804020202060201" pitchFamily="34" charset="0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00" b="1" u="none">
                <a:solidFill>
                  <a:schemeClr val="bg1"/>
                </a:solidFill>
                <a:ea typeface="Intel Clear" panose="020B0604020203020204" pitchFamily="34" charset="0"/>
              </a:rPr>
              <a:t>Engineering </a:t>
            </a:r>
            <a:r>
              <a:rPr lang="en-US" sz="500" b="1">
                <a:solidFill>
                  <a:schemeClr val="bg1"/>
                </a:solidFill>
                <a:ea typeface="Intel Clear" panose="020B0604020203020204" pitchFamily="34" charset="0"/>
              </a:rPr>
              <a:t>Intel’s promise of highest quality and performance</a:t>
            </a:r>
            <a:endParaRPr lang="en-US" sz="500">
              <a:solidFill>
                <a:schemeClr val="bg1"/>
              </a:solidFill>
            </a:endParaRPr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6872352" y="4824387"/>
            <a:ext cx="2133600" cy="273844"/>
          </a:xfrm>
          <a:prstGeom prst="rect">
            <a:avLst/>
          </a:prstGeom>
        </p:spPr>
        <p:txBody>
          <a:bodyPr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3802842" y="4867399"/>
            <a:ext cx="108074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>
                <a:solidFill>
                  <a:schemeClr val="bg1"/>
                </a:solidFill>
              </a:rPr>
              <a:t>Intel Confidential</a:t>
            </a:r>
          </a:p>
        </p:txBody>
      </p:sp>
    </p:spTree>
    <p:extLst>
      <p:ext uri="{BB962C8B-B14F-4D97-AF65-F5344CB8AC3E}">
        <p14:creationId xmlns:p14="http://schemas.microsoft.com/office/powerpoint/2010/main" val="3786227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74" r:id="rId2"/>
    <p:sldLayoutId id="2147483650" r:id="rId3"/>
    <p:sldLayoutId id="2147483694" r:id="rId4"/>
    <p:sldLayoutId id="2147483684" r:id="rId5"/>
    <p:sldLayoutId id="2147483652" r:id="rId6"/>
    <p:sldLayoutId id="2147483660" r:id="rId7"/>
    <p:sldLayoutId id="2147483668" r:id="rId8"/>
    <p:sldLayoutId id="2147483669" r:id="rId9"/>
    <p:sldLayoutId id="2147483670" r:id="rId10"/>
    <p:sldLayoutId id="2147483672" r:id="rId11"/>
    <p:sldLayoutId id="2147483651" r:id="rId12"/>
    <p:sldLayoutId id="2147483677" r:id="rId13"/>
    <p:sldLayoutId id="2147483665" r:id="rId14"/>
    <p:sldLayoutId id="2147483654" r:id="rId15"/>
    <p:sldLayoutId id="2147483655" r:id="rId16"/>
    <p:sldLayoutId id="2147483676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4400" b="0" i="0" kern="1200" spc="0" baseline="0">
          <a:solidFill>
            <a:schemeClr val="tx2"/>
          </a:solidFill>
          <a:latin typeface="Intel Clear Pro" panose="020B0804020202060201" pitchFamily="34" charset="0"/>
          <a:ea typeface="Intel Clear Pro" panose="020B0804020202060201" pitchFamily="34" charset="0"/>
          <a:cs typeface="Intel Clear Pro" panose="020B0804020202060201" pitchFamily="34" charset="0"/>
        </a:defRPr>
      </a:lvl1pPr>
    </p:titleStyle>
    <p:bodyStyle>
      <a:lvl1pPr marL="0" indent="0" algn="l" defTabSz="457200" rtl="0" eaLnBrk="1" latinLnBrk="0" hangingPunct="1">
        <a:spcBef>
          <a:spcPts val="1200"/>
        </a:spcBef>
        <a:spcAft>
          <a:spcPts val="0"/>
        </a:spcAft>
        <a:buFont typeface="Wingdings" panose="05000000000000000000" pitchFamily="2" charset="2"/>
        <a:buNone/>
        <a:defRPr sz="1800" b="0" kern="1200">
          <a:solidFill>
            <a:srgbClr val="0071C5"/>
          </a:solidFill>
          <a:latin typeface="+mn-lt"/>
          <a:ea typeface="+mn-ea"/>
          <a:cs typeface="Intel Clear" panose="020B0604020203020204" pitchFamily="34" charset="0"/>
        </a:defRPr>
      </a:lvl1pPr>
      <a:lvl2pPr marL="225425" indent="-225425" algn="l" defTabSz="457200" rtl="0" eaLnBrk="1" latinLnBrk="0" hangingPunct="1">
        <a:spcBef>
          <a:spcPts val="1200"/>
        </a:spcBef>
        <a:buFont typeface="Wingdings" charset="2"/>
        <a:buChar char="§"/>
        <a:defRPr sz="1600" kern="1200" baseline="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2pPr>
      <a:lvl3pPr marL="571500" indent="-228600" algn="l" defTabSz="457200" rtl="0" eaLnBrk="1" latinLnBrk="0" hangingPunct="1">
        <a:spcBef>
          <a:spcPts val="800"/>
        </a:spcBef>
        <a:buFont typeface="Intel Clear" panose="020B060402020302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3pPr>
      <a:lvl4pPr marL="969963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4pPr>
      <a:lvl5pPr marL="1319213" indent="-228600" algn="l" defTabSz="457200" rtl="0" eaLnBrk="1" latinLnBrk="0" hangingPunct="1">
        <a:spcBef>
          <a:spcPct val="20000"/>
        </a:spcBef>
        <a:buFont typeface="Intel Clear" panose="020B0604020203020204" pitchFamily="34" charset="0"/>
        <a:buChar char="–"/>
        <a:defRPr sz="14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3" name="Rectangle 17"/>
          <p:cNvSpPr>
            <a:spLocks noChangeArrowheads="1"/>
          </p:cNvSpPr>
          <p:nvPr/>
        </p:nvSpPr>
        <p:spPr bwMode="auto">
          <a:xfrm>
            <a:off x="365126" y="285753"/>
            <a:ext cx="8410576" cy="992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50413" tIns="25208" rIns="50413" bIns="25208" anchor="ctr" anchorCtr="1"/>
          <a:lstStyle/>
          <a:p>
            <a:pPr defTabSz="501081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Neo Sans Intel Medium" pitchFamily="34" charset="0"/>
            </a:endParaRPr>
          </a:p>
        </p:txBody>
      </p:sp>
      <p:sp>
        <p:nvSpPr>
          <p:cNvPr id="4114" name="Rectangle 18"/>
          <p:cNvSpPr>
            <a:spLocks noChangeArrowheads="1"/>
          </p:cNvSpPr>
          <p:nvPr/>
        </p:nvSpPr>
        <p:spPr bwMode="auto">
          <a:xfrm>
            <a:off x="366713" y="1345411"/>
            <a:ext cx="8407400" cy="31265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50065" tIns="25034" rIns="50065" bIns="25034" anchorCtr="1"/>
          <a:lstStyle/>
          <a:p>
            <a:pPr marL="123518" indent="-123518" defTabSz="501081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"/>
            </a:pPr>
            <a:endParaRPr lang="en-US" sz="1300">
              <a:solidFill>
                <a:prstClr val="whit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Neo Sans Intel" pitchFamily="34" charset="0"/>
            </a:endParaRPr>
          </a:p>
        </p:txBody>
      </p:sp>
      <p:sp>
        <p:nvSpPr>
          <p:cNvPr id="4115" name="Rectangle 19"/>
          <p:cNvSpPr>
            <a:spLocks noGrp="1" noChangeArrowheads="1"/>
          </p:cNvSpPr>
          <p:nvPr>
            <p:ph type="title"/>
          </p:nvPr>
        </p:nvSpPr>
        <p:spPr bwMode="auto">
          <a:xfrm>
            <a:off x="226577" y="205979"/>
            <a:ext cx="8663208" cy="690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50116" tIns="25058" rIns="50116" bIns="2505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116" name="Rectangle 20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6577" y="1003466"/>
            <a:ext cx="8650386" cy="35523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50116" tIns="25058" rIns="50116" bIns="2505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>
                <a:latin typeface="+mn-lt"/>
              </a:rPr>
              <a:t>Fourth level</a:t>
            </a:r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9"/>
            <a:ext cx="9144000" cy="5142741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 bwMode="auto">
          <a:xfrm>
            <a:off x="0" y="379"/>
            <a:ext cx="9155636" cy="5143500"/>
          </a:xfrm>
          <a:prstGeom prst="rect">
            <a:avLst/>
          </a:prstGeom>
          <a:solidFill>
            <a:srgbClr val="003C71">
              <a:alpha val="69804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4265" tIns="17133" rIns="34265" bIns="17133" numCol="1" rtlCol="0" anchor="t" anchorCtr="1" compatLnSpc="1">
            <a:prstTxWarp prst="textNoShape">
              <a:avLst/>
            </a:prstTxWarp>
            <a:noAutofit/>
          </a:bodyPr>
          <a:lstStyle/>
          <a:p>
            <a:pPr algn="ctr" defTabSz="342900" fontAlgn="base">
              <a:lnSpc>
                <a:spcPct val="95000"/>
              </a:lnSpc>
              <a:spcBef>
                <a:spcPct val="30000"/>
              </a:spcBef>
              <a:spcAft>
                <a:spcPct val="0"/>
              </a:spcAft>
              <a:buClr>
                <a:prstClr val="white"/>
              </a:buClr>
            </a:pPr>
            <a:endParaRPr lang="en-US" sz="75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7392674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</p:sldLayoutIdLst>
  <p:hf hdr="0" ftr="0" dt="0"/>
  <p:txStyles>
    <p:titleStyle>
      <a:lvl1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99" b="1"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Neo Sans Intel Medium" pitchFamily="34" charset="0"/>
          <a:cs typeface="Arial" charset="0"/>
        </a:defRPr>
      </a:lvl2pPr>
      <a:lvl3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Neo Sans Intel Medium" pitchFamily="34" charset="0"/>
          <a:cs typeface="Arial" charset="0"/>
        </a:defRPr>
      </a:lvl3pPr>
      <a:lvl4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Neo Sans Intel Medium" pitchFamily="34" charset="0"/>
          <a:cs typeface="Arial" charset="0"/>
        </a:defRPr>
      </a:lvl4pPr>
      <a:lvl5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Neo Sans Intel Medium" pitchFamily="34" charset="0"/>
          <a:cs typeface="Arial" charset="0"/>
        </a:defRPr>
      </a:lvl5pPr>
      <a:lvl6pPr marL="250515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Neo Sans Intel Medium" pitchFamily="34" charset="0"/>
          <a:cs typeface="Arial" charset="0"/>
        </a:defRPr>
      </a:lvl6pPr>
      <a:lvl7pPr marL="50103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Neo Sans Intel Medium" pitchFamily="34" charset="0"/>
          <a:cs typeface="Arial" charset="0"/>
        </a:defRPr>
      </a:lvl7pPr>
      <a:lvl8pPr marL="751545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Neo Sans Intel Medium" pitchFamily="34" charset="0"/>
          <a:cs typeface="Arial" charset="0"/>
        </a:defRPr>
      </a:lvl8pPr>
      <a:lvl9pPr marL="100206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Neo Sans Intel Medium" pitchFamily="34" charset="0"/>
          <a:cs typeface="Arial" charset="0"/>
        </a:defRPr>
      </a:lvl9pPr>
    </p:titleStyle>
    <p:bodyStyle>
      <a:lvl1pPr marL="226956" indent="-226956" algn="l" rtl="0" eaLnBrk="1" fontAlgn="base" hangingPunct="1">
        <a:lnSpc>
          <a:spcPct val="100000"/>
        </a:lnSpc>
        <a:spcBef>
          <a:spcPts val="300"/>
        </a:spcBef>
        <a:spcAft>
          <a:spcPct val="0"/>
        </a:spcAft>
        <a:buClr>
          <a:schemeClr val="tx1"/>
        </a:buClr>
        <a:buFont typeface="Arial" pitchFamily="34" charset="0"/>
        <a:buChar char="•"/>
        <a:defRPr sz="20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457086" indent="-172995" algn="l" rtl="0" eaLnBrk="1" fontAlgn="base" hangingPunct="1">
        <a:lnSpc>
          <a:spcPct val="100000"/>
        </a:lnSpc>
        <a:spcBef>
          <a:spcPts val="300"/>
        </a:spcBef>
        <a:spcAft>
          <a:spcPct val="0"/>
        </a:spcAft>
        <a:buClr>
          <a:schemeClr val="tx1"/>
        </a:buClr>
        <a:buFont typeface="Intel Clear" panose="020B0604020203020204" pitchFamily="34" charset="0"/>
        <a:buChar char="-"/>
        <a:defRPr sz="1800">
          <a:solidFill>
            <a:schemeClr val="tx1"/>
          </a:solidFill>
          <a:effectLst/>
          <a:latin typeface="+mn-lt"/>
          <a:cs typeface="+mn-cs"/>
        </a:defRPr>
      </a:lvl2pPr>
      <a:lvl3pPr marL="744352" indent="-174581" algn="l" rtl="0" eaLnBrk="1" fontAlgn="base" hangingPunct="1">
        <a:lnSpc>
          <a:spcPct val="100000"/>
        </a:lnSpc>
        <a:spcBef>
          <a:spcPts val="3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§"/>
        <a:defRPr sz="1600">
          <a:solidFill>
            <a:schemeClr val="tx1"/>
          </a:solidFill>
          <a:effectLst/>
          <a:latin typeface="+mn-lt"/>
          <a:cs typeface="+mn-cs"/>
        </a:defRPr>
      </a:lvl3pPr>
      <a:lvl4pPr marL="914171" indent="-131347" algn="l" rtl="0" eaLnBrk="1" fontAlgn="base" hangingPunct="1">
        <a:spcBef>
          <a:spcPts val="300"/>
        </a:spcBef>
        <a:spcAft>
          <a:spcPct val="0"/>
        </a:spcAft>
        <a:buFont typeface="Courier New" panose="02070309020205020404" pitchFamily="49" charset="0"/>
        <a:buChar char="o"/>
        <a:defRPr sz="1100" baseline="0">
          <a:solidFill>
            <a:schemeClr val="tx1"/>
          </a:solidFill>
          <a:effectLst/>
          <a:latin typeface="+mn-lt"/>
          <a:cs typeface="+mn-cs"/>
        </a:defRPr>
      </a:lvl4pPr>
      <a:lvl5pPr marL="946391" indent="-126129" algn="l" rtl="0" eaLnBrk="1" fontAlgn="base" hangingPunct="1">
        <a:spcBef>
          <a:spcPct val="20000"/>
        </a:spcBef>
        <a:spcAft>
          <a:spcPct val="0"/>
        </a:spcAft>
        <a:buChar char="•"/>
        <a:defRPr sz="11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+mn-cs"/>
        </a:defRPr>
      </a:lvl5pPr>
      <a:lvl6pPr marL="1196906" indent="-126129" algn="l" rtl="0" eaLnBrk="1" fontAlgn="base" hangingPunct="1">
        <a:spcBef>
          <a:spcPct val="20000"/>
        </a:spcBef>
        <a:spcAft>
          <a:spcPct val="0"/>
        </a:spcAft>
        <a:buChar char="•"/>
        <a:defRPr sz="11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+mn-cs"/>
        </a:defRPr>
      </a:lvl6pPr>
      <a:lvl7pPr marL="1447421" indent="-126129" algn="l" rtl="0" eaLnBrk="1" fontAlgn="base" hangingPunct="1">
        <a:spcBef>
          <a:spcPct val="20000"/>
        </a:spcBef>
        <a:spcAft>
          <a:spcPct val="0"/>
        </a:spcAft>
        <a:buChar char="•"/>
        <a:defRPr sz="11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+mn-cs"/>
        </a:defRPr>
      </a:lvl7pPr>
      <a:lvl8pPr marL="1697936" indent="-126129" algn="l" rtl="0" eaLnBrk="1" fontAlgn="base" hangingPunct="1">
        <a:spcBef>
          <a:spcPct val="20000"/>
        </a:spcBef>
        <a:spcAft>
          <a:spcPct val="0"/>
        </a:spcAft>
        <a:buChar char="•"/>
        <a:defRPr sz="11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+mn-cs"/>
        </a:defRPr>
      </a:lvl8pPr>
      <a:lvl9pPr marL="1948450" indent="-126129" algn="l" rtl="0" eaLnBrk="1" fontAlgn="base" hangingPunct="1">
        <a:spcBef>
          <a:spcPct val="20000"/>
        </a:spcBef>
        <a:spcAft>
          <a:spcPct val="0"/>
        </a:spcAft>
        <a:buChar char="•"/>
        <a:defRPr sz="11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+mn-cs"/>
        </a:defRPr>
      </a:lvl9pPr>
    </p:bodyStyle>
    <p:otherStyle>
      <a:defPPr>
        <a:defRPr lang="en-US"/>
      </a:defPPr>
      <a:lvl1pPr marL="0" algn="l" defTabSz="50103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50515" algn="l" defTabSz="50103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501030" algn="l" defTabSz="50103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1545" algn="l" defTabSz="50103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02060" algn="l" defTabSz="50103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2576" algn="l" defTabSz="50103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503090" algn="l" defTabSz="50103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53605" algn="l" defTabSz="50103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004120" algn="l" defTabSz="50103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Relationship Id="rId4" Type="http://schemas.openxmlformats.org/officeDocument/2006/relationships/slide" Target="slide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6.emf"/><Relationship Id="rId4" Type="http://schemas.openxmlformats.org/officeDocument/2006/relationships/oleObject" Target="../embeddings/oleObject1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EFEAA-FD6A-41E1-8A5D-585BA6276F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4687" y="1385456"/>
            <a:ext cx="8212886" cy="2196486"/>
          </a:xfrm>
        </p:spPr>
        <p:txBody>
          <a:bodyPr/>
          <a:lstStyle/>
          <a:p>
            <a:r>
              <a:rPr lang="en-US" dirty="0"/>
              <a:t> NVL HX THC ES1 Results 1 Load Topology 42.67MHz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3788CE-B32E-4AD9-B5D8-4BDBE071C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5613" y="3543808"/>
            <a:ext cx="6330212" cy="1409192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sz="1400" dirty="0"/>
              <a:t>Juan Luis Lopez Padilla</a:t>
            </a:r>
          </a:p>
          <a:p>
            <a:pPr>
              <a:spcBef>
                <a:spcPts val="0"/>
              </a:spcBef>
            </a:pPr>
            <a:r>
              <a:rPr lang="en-US" sz="1400" dirty="0"/>
              <a:t>Jesus Mauricio Quintero Cruz</a:t>
            </a:r>
          </a:p>
          <a:p>
            <a:pPr>
              <a:spcBef>
                <a:spcPts val="0"/>
              </a:spcBef>
            </a:pPr>
            <a:r>
              <a:rPr lang="en-US" sz="1400" dirty="0"/>
              <a:t>WW4 2026</a:t>
            </a:r>
          </a:p>
        </p:txBody>
      </p:sp>
    </p:spTree>
    <p:extLst>
      <p:ext uri="{BB962C8B-B14F-4D97-AF65-F5344CB8AC3E}">
        <p14:creationId xmlns:p14="http://schemas.microsoft.com/office/powerpoint/2010/main" val="822741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1AC6DD-D337-4649-8602-A959E3944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727E25C-326F-49C8-A91C-08BA6673B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Conditions/Setup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E63267-5425-432E-824D-D20DFEC6551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1" y="1101725"/>
            <a:ext cx="4177861" cy="410089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Platform used:</a:t>
            </a:r>
          </a:p>
          <a:p>
            <a:pPr marL="857250" lvl="2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71C5"/>
                </a:solidFill>
              </a:rPr>
              <a:t>RVP01-NVL </a:t>
            </a:r>
            <a:r>
              <a:rPr lang="en-US" sz="1200" dirty="0" err="1">
                <a:solidFill>
                  <a:srgbClr val="0071C5"/>
                </a:solidFill>
              </a:rPr>
              <a:t>Hx_UL</a:t>
            </a:r>
            <a:r>
              <a:rPr lang="en-US" sz="1200" dirty="0">
                <a:solidFill>
                  <a:srgbClr val="0071C5"/>
                </a:solidFill>
              </a:rPr>
              <a:t> DDR5 SODIMM 1DPC T3.</a:t>
            </a:r>
            <a:endParaRPr lang="da-DK" sz="1200" dirty="0">
              <a:solidFill>
                <a:srgbClr val="0071C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6 parts tested:</a:t>
            </a:r>
          </a:p>
          <a:p>
            <a:pPr marL="857250" lvl="2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71C5"/>
              </a:solidFill>
            </a:endParaRPr>
          </a:p>
          <a:p>
            <a:pPr marL="857250" lvl="2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71C5"/>
              </a:solidFill>
            </a:endParaRPr>
          </a:p>
          <a:p>
            <a:pPr marL="857250" lvl="2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71C5"/>
              </a:solidFill>
            </a:endParaRPr>
          </a:p>
          <a:p>
            <a:pPr marL="857250" lvl="2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71C5"/>
              </a:solidFill>
            </a:endParaRPr>
          </a:p>
          <a:p>
            <a:pPr marL="857250" lvl="2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71C5"/>
              </a:solidFill>
            </a:endParaRPr>
          </a:p>
          <a:p>
            <a:pPr marL="857250" lvl="2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71C5"/>
                </a:solidFill>
              </a:rPr>
              <a:t>Token: </a:t>
            </a:r>
            <a:r>
              <a:rPr lang="en-US" sz="1050" dirty="0">
                <a:solidFill>
                  <a:srgbClr val="0071C5"/>
                </a:solidFill>
              </a:rPr>
              <a:t>UPM_4205_HPHVT2FIN2LEGNES7DG_FULLDIE_NOM_MED (Sigma)</a:t>
            </a:r>
          </a:p>
          <a:p>
            <a:pPr marL="857250" lvl="2" indent="-285750">
              <a:buFont typeface="Arial" panose="020B0604020202020204" pitchFamily="34" charset="0"/>
              <a:buChar char="•"/>
            </a:pPr>
            <a:endParaRPr lang="en-US" sz="1050" dirty="0">
              <a:solidFill>
                <a:srgbClr val="0071C5"/>
              </a:solidFill>
            </a:endParaRPr>
          </a:p>
          <a:p>
            <a:pPr marL="171450" marR="0" lvl="0" indent="-17145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PVT conditions.</a:t>
            </a:r>
          </a:p>
          <a:p>
            <a:pPr marL="171450" marR="0" lvl="0" indent="-17145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DC49BA-E751-44D2-BAC7-150F24384C3D}"/>
              </a:ext>
            </a:extLst>
          </p:cNvPr>
          <p:cNvSpPr txBox="1"/>
          <p:nvPr/>
        </p:nvSpPr>
        <p:spPr>
          <a:xfrm>
            <a:off x="4762500" y="792721"/>
            <a:ext cx="3922713" cy="421653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1C5"/>
                </a:solidFill>
                <a:effectLst/>
                <a:uLnTx/>
                <a:uFillTx/>
                <a:latin typeface="Intel Clear"/>
                <a:ea typeface="+mn-ea"/>
                <a:cs typeface="Intel Clear" panose="020B0604020203020204" pitchFamily="34" charset="0"/>
              </a:rPr>
              <a:t>IFWI Version: </a:t>
            </a:r>
          </a:p>
          <a:p>
            <a:pPr marL="742950" lvl="1" indent="-28575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pt-BR" sz="1050" dirty="0">
                <a:solidFill>
                  <a:srgbClr val="0071C5"/>
                </a:solidFill>
                <a:cs typeface="Intel Clear" panose="020B0604020203020204" pitchFamily="34" charset="0"/>
              </a:rPr>
              <a:t>NVL_HR11_A1A0-ODCA_RPRF_SEP0_115F0418_2025WW48.3.01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0071C5"/>
                </a:solidFill>
                <a:effectLst/>
                <a:uLnTx/>
                <a:uFillTx/>
                <a:latin typeface="Intel Clear"/>
                <a:ea typeface="+mn-ea"/>
                <a:cs typeface="Intel Clear" panose="020B0604020203020204" pitchFamily="34" charset="0"/>
              </a:rPr>
              <a:t>.bin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1C5"/>
                </a:solidFill>
                <a:effectLst/>
                <a:uLnTx/>
                <a:uFillTx/>
                <a:latin typeface="Intel Clear"/>
                <a:ea typeface="+mn-ea"/>
                <a:cs typeface="Intel Clear" panose="020B0604020203020204" pitchFamily="34" charset="0"/>
              </a:rPr>
              <a:t>THC 1-Load (for Touch Panel) Topology. 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1C5"/>
                </a:solidFill>
                <a:effectLst/>
                <a:uLnTx/>
                <a:uFillTx/>
                <a:latin typeface="Intel Clear"/>
                <a:ea typeface="+mn-ea"/>
                <a:cs typeface="Intel Clear" panose="020B0604020203020204" pitchFamily="34" charset="0"/>
              </a:rPr>
              <a:t>Synthetic content.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1C5"/>
                </a:solidFill>
                <a:effectLst/>
                <a:uLnTx/>
                <a:uFillTx/>
                <a:latin typeface="Intel Clear"/>
                <a:ea typeface="+mn-ea"/>
                <a:cs typeface="Intel Clear" panose="020B0604020203020204" pitchFamily="34" charset="0"/>
              </a:rPr>
              <a:t>Power supply 1.8V.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1C5"/>
                </a:solidFill>
                <a:effectLst/>
                <a:uLnTx/>
                <a:uFillTx/>
                <a:latin typeface="Intel Clear"/>
                <a:ea typeface="+mn-ea"/>
                <a:cs typeface="Intel Clear" panose="020B0604020203020204" pitchFamily="34" charset="0"/>
              </a:rPr>
              <a:t>Frequency at </a:t>
            </a:r>
            <a:r>
              <a:rPr lang="en-US" dirty="0">
                <a:solidFill>
                  <a:srgbClr val="0071C5"/>
                </a:solidFill>
                <a:latin typeface="Intel Clear"/>
                <a:cs typeface="Intel Clear" panose="020B0604020203020204" pitchFamily="34" charset="0"/>
              </a:rPr>
              <a:t>42.67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1C5"/>
                </a:solidFill>
                <a:effectLst/>
                <a:uLnTx/>
                <a:uFillTx/>
                <a:latin typeface="Intel Clear"/>
                <a:ea typeface="+mn-ea"/>
                <a:cs typeface="Intel Clear" panose="020B0604020203020204" pitchFamily="34" charset="0"/>
              </a:rPr>
              <a:t>MHz.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71C5"/>
              </a:solidFill>
              <a:effectLst/>
              <a:uLnTx/>
              <a:uFillTx/>
              <a:latin typeface="Intel Clear"/>
              <a:ea typeface="+mn-ea"/>
              <a:cs typeface="Intel Clear" panose="020B0604020203020204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0071C5"/>
                </a:solidFill>
                <a:latin typeface="Intel Clear"/>
                <a:cs typeface="Intel Clear" panose="020B0604020203020204" pitchFamily="34" charset="0"/>
              </a:rPr>
              <a:t>BOM6.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0071C5"/>
                </a:solidFill>
                <a:latin typeface="Intel Clear"/>
                <a:cs typeface="Intel Clear" panose="020B0604020203020204" pitchFamily="34" charset="0"/>
              </a:rPr>
              <a:t>11” in cable.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71C5"/>
              </a:solidFill>
              <a:effectLst/>
              <a:uLnTx/>
              <a:uFillTx/>
              <a:latin typeface="Intel Clear"/>
              <a:ea typeface="+mn-ea"/>
              <a:cs typeface="Intel Clear" panose="020B0604020203020204" pitchFamily="34" charset="0"/>
            </a:endParaRPr>
          </a:p>
          <a:p>
            <a:endParaRPr lang="en-US" sz="1100" dirty="0">
              <a:solidFill>
                <a:srgbClr val="003C7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9656393-D8C0-A043-D632-2E61118BFB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6113841"/>
              </p:ext>
            </p:extLst>
          </p:nvPr>
        </p:nvGraphicFramePr>
        <p:xfrm>
          <a:off x="1910038" y="2100890"/>
          <a:ext cx="2138547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8387">
                  <a:extLst>
                    <a:ext uri="{9D8B030D-6E8A-4147-A177-3AD203B41FA5}">
                      <a16:colId xmlns:a16="http://schemas.microsoft.com/office/drawing/2014/main" val="1266333517"/>
                    </a:ext>
                  </a:extLst>
                </a:gridCol>
                <a:gridCol w="510160">
                  <a:extLst>
                    <a:ext uri="{9D8B030D-6E8A-4147-A177-3AD203B41FA5}">
                      <a16:colId xmlns:a16="http://schemas.microsoft.com/office/drawing/2014/main" val="1202574572"/>
                    </a:ext>
                  </a:extLst>
                </a:gridCol>
              </a:tblGrid>
              <a:tr h="224889">
                <a:tc>
                  <a:txBody>
                    <a:bodyPr/>
                    <a:lstStyle/>
                    <a:p>
                      <a:r>
                        <a:rPr lang="en-US" sz="900" dirty="0"/>
                        <a:t>PCD-H VID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Skew</a:t>
                      </a:r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904556"/>
                  </a:ext>
                </a:extLst>
              </a:tr>
              <a:tr h="144529"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rgbClr val="0071C5"/>
                          </a:solidFill>
                        </a:rPr>
                        <a:t>U538G12400977</a:t>
                      </a:r>
                      <a:endParaRPr lang="en-US" sz="90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1S</a:t>
                      </a:r>
                      <a:endParaRPr lang="en-US" sz="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5043371"/>
                  </a:ext>
                </a:extLst>
              </a:tr>
              <a:tr h="144529"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rgbClr val="0071C5"/>
                          </a:solidFill>
                        </a:rPr>
                        <a:t>U548C31700201</a:t>
                      </a:r>
                      <a:endParaRPr lang="en-US" sz="9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417796"/>
                  </a:ext>
                </a:extLst>
              </a:tr>
              <a:tr h="144529"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rgbClr val="0071C5"/>
                          </a:solidFill>
                        </a:rPr>
                        <a:t>U538G12400463</a:t>
                      </a:r>
                      <a:endParaRPr lang="en-US" sz="9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1552003"/>
                  </a:ext>
                </a:extLst>
              </a:tr>
              <a:tr h="144529"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rgbClr val="0071C5"/>
                          </a:solidFill>
                        </a:rPr>
                        <a:t>U544D00300422</a:t>
                      </a:r>
                      <a:endParaRPr lang="en-US" sz="90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1F</a:t>
                      </a:r>
                      <a:endParaRPr lang="en-US" sz="9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3828605"/>
                  </a:ext>
                </a:extLst>
              </a:tr>
              <a:tr h="144529"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rgbClr val="0071C5"/>
                          </a:solidFill>
                        </a:rPr>
                        <a:t>U546F72500726</a:t>
                      </a:r>
                      <a:endParaRPr lang="en-US" sz="9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84948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rgbClr val="0071C5"/>
                          </a:solidFill>
                        </a:rPr>
                        <a:t>U548C31700538</a:t>
                      </a:r>
                      <a:endParaRPr lang="en-US" sz="9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489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1318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 conditions</a:t>
            </a:r>
            <a:br>
              <a:rPr lang="en-US"/>
            </a:br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3886FA0-7B42-4D99-8FD4-3B46DACDED69}"/>
              </a:ext>
            </a:extLst>
          </p:cNvPr>
          <p:cNvGrpSpPr/>
          <p:nvPr/>
        </p:nvGrpSpPr>
        <p:grpSpPr>
          <a:xfrm>
            <a:off x="2568643" y="1230453"/>
            <a:ext cx="3137450" cy="2682593"/>
            <a:chOff x="5019029" y="1642915"/>
            <a:chExt cx="3609173" cy="284319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28FE76B-ADDA-4706-8E12-8E7FBD3C7D88}"/>
                </a:ext>
              </a:extLst>
            </p:cNvPr>
            <p:cNvSpPr txBox="1"/>
            <p:nvPr/>
          </p:nvSpPr>
          <p:spPr>
            <a:xfrm>
              <a:off x="6768065" y="1642915"/>
              <a:ext cx="890661" cy="163101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0" tIns="0" rIns="0" bIns="0" rtlCol="0">
              <a:spAutoFit/>
            </a:bodyPr>
            <a:lstStyle/>
            <a:p>
              <a:r>
                <a:rPr lang="en-US" sz="1000" b="1">
                  <a:solidFill>
                    <a:srgbClr val="003C71"/>
                  </a:solidFill>
                </a:rPr>
                <a:t>5 VT Corners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EF7C781-54B3-4B49-A123-7E28E423704F}"/>
                </a:ext>
              </a:extLst>
            </p:cNvPr>
            <p:cNvGrpSpPr/>
            <p:nvPr/>
          </p:nvGrpSpPr>
          <p:grpSpPr>
            <a:xfrm>
              <a:off x="5019029" y="1808382"/>
              <a:ext cx="3609173" cy="2677725"/>
              <a:chOff x="5019029" y="1808382"/>
              <a:chExt cx="3609173" cy="2677725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DF14E249-0AF3-46F4-83F6-74898E09534B}"/>
                  </a:ext>
                </a:extLst>
              </p:cNvPr>
              <p:cNvGrpSpPr/>
              <p:nvPr/>
            </p:nvGrpSpPr>
            <p:grpSpPr>
              <a:xfrm>
                <a:off x="5019029" y="1808382"/>
                <a:ext cx="3609173" cy="2677725"/>
                <a:chOff x="5019031" y="1808382"/>
                <a:chExt cx="3609174" cy="2677725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grpSp>
              <p:nvGrpSpPr>
                <p:cNvPr id="11" name="Group 10">
                  <a:extLst>
                    <a:ext uri="{FF2B5EF4-FFF2-40B4-BE49-F238E27FC236}">
                      <a16:creationId xmlns:a16="http://schemas.microsoft.com/office/drawing/2014/main" id="{5E3AEE18-4BF1-4C04-B21B-3EAA7396C956}"/>
                    </a:ext>
                  </a:extLst>
                </p:cNvPr>
                <p:cNvGrpSpPr/>
                <p:nvPr/>
              </p:nvGrpSpPr>
              <p:grpSpPr>
                <a:xfrm>
                  <a:off x="5019031" y="1808382"/>
                  <a:ext cx="3609174" cy="2677725"/>
                  <a:chOff x="5019031" y="1808382"/>
                  <a:chExt cx="3609174" cy="2677725"/>
                </a:xfrm>
              </p:grpSpPr>
              <p:sp>
                <p:nvSpPr>
                  <p:cNvPr id="17" name="Oval 16">
                    <a:extLst>
                      <a:ext uri="{FF2B5EF4-FFF2-40B4-BE49-F238E27FC236}">
                        <a16:creationId xmlns:a16="http://schemas.microsoft.com/office/drawing/2014/main" id="{2BDEBA5C-D802-4AD6-B5EC-1A51BE8834A8}"/>
                      </a:ext>
                    </a:extLst>
                  </p:cNvPr>
                  <p:cNvSpPr/>
                  <p:nvPr/>
                </p:nvSpPr>
                <p:spPr>
                  <a:xfrm>
                    <a:off x="6751320" y="3044951"/>
                    <a:ext cx="615696" cy="164592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1">
                          <a:tint val="66000"/>
                          <a:satMod val="160000"/>
                        </a:schemeClr>
                      </a:gs>
                      <a:gs pos="50000">
                        <a:schemeClr val="accent1">
                          <a:tint val="44500"/>
                          <a:satMod val="160000"/>
                        </a:schemeClr>
                      </a:gs>
                      <a:gs pos="100000">
                        <a:schemeClr val="accent1">
                          <a:tint val="23500"/>
                          <a:satMod val="160000"/>
                        </a:schemeClr>
                      </a:gs>
                    </a:gsLst>
                    <a:lin ang="0" scaled="1"/>
                    <a:tileRect/>
                  </a:gra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400" dirty="0">
                        <a:solidFill>
                          <a:schemeClr val="tx1"/>
                        </a:solidFill>
                      </a:rPr>
                      <a:t>Typical</a:t>
                    </a:r>
                  </a:p>
                </p:txBody>
              </p:sp>
              <p:sp>
                <p:nvSpPr>
                  <p:cNvPr id="18" name="Left-Up Arrow 7">
                    <a:extLst>
                      <a:ext uri="{FF2B5EF4-FFF2-40B4-BE49-F238E27FC236}">
                        <a16:creationId xmlns:a16="http://schemas.microsoft.com/office/drawing/2014/main" id="{47EF6636-5CF6-4D3E-8B78-3CF9EFA99701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776555" y="1800763"/>
                    <a:ext cx="2545081" cy="2560320"/>
                  </a:xfrm>
                  <a:prstGeom prst="leftUpArrow">
                    <a:avLst>
                      <a:gd name="adj1" fmla="val 2885"/>
                      <a:gd name="adj2" fmla="val 3631"/>
                      <a:gd name="adj3" fmla="val 8962"/>
                    </a:avLst>
                  </a:prstGeom>
                  <a:gradFill flip="none" rotWithShape="1">
                    <a:gsLst>
                      <a:gs pos="0">
                        <a:schemeClr val="tx2">
                          <a:tint val="66000"/>
                          <a:satMod val="160000"/>
                        </a:schemeClr>
                      </a:gs>
                      <a:gs pos="50000">
                        <a:schemeClr val="tx2">
                          <a:tint val="44500"/>
                          <a:satMod val="160000"/>
                        </a:schemeClr>
                      </a:gs>
                      <a:gs pos="100000">
                        <a:schemeClr val="tx2">
                          <a:tint val="23500"/>
                          <a:satMod val="160000"/>
                        </a:schemeClr>
                      </a:gs>
                    </a:gsLst>
                    <a:lin ang="2700000" scaled="1"/>
                    <a:tileRect/>
                  </a:gra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/>
                  </a:p>
                </p:txBody>
              </p:sp>
              <p:sp>
                <p:nvSpPr>
                  <p:cNvPr id="19" name="Rectangle 18">
                    <a:extLst>
                      <a:ext uri="{FF2B5EF4-FFF2-40B4-BE49-F238E27FC236}">
                        <a16:creationId xmlns:a16="http://schemas.microsoft.com/office/drawing/2014/main" id="{D2077FF5-9B29-4396-AE61-25D61A696F6B}"/>
                      </a:ext>
                    </a:extLst>
                  </p:cNvPr>
                  <p:cNvSpPr/>
                  <p:nvPr/>
                </p:nvSpPr>
                <p:spPr>
                  <a:xfrm>
                    <a:off x="5019031" y="1841361"/>
                    <a:ext cx="929560" cy="881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700">
                        <a:solidFill>
                          <a:schemeClr val="tx2"/>
                        </a:solidFill>
                      </a:rPr>
                      <a:t>Temperature</a:t>
                    </a:r>
                  </a:p>
                </p:txBody>
              </p:sp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098BAEC9-9F48-4D48-A4FC-E52D1E1A4C2F}"/>
                      </a:ext>
                    </a:extLst>
                  </p:cNvPr>
                  <p:cNvSpPr/>
                  <p:nvPr/>
                </p:nvSpPr>
                <p:spPr>
                  <a:xfrm>
                    <a:off x="7732093" y="4394667"/>
                    <a:ext cx="896112" cy="9144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700">
                        <a:solidFill>
                          <a:schemeClr val="tx2"/>
                        </a:solidFill>
                      </a:rPr>
                      <a:t>Voltage</a:t>
                    </a:r>
                  </a:p>
                </p:txBody>
              </p:sp>
            </p:grp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CF44ECD2-DA37-47E4-817F-135FE6B8302D}"/>
                    </a:ext>
                  </a:extLst>
                </p:cNvPr>
                <p:cNvSpPr txBox="1"/>
                <p:nvPr/>
              </p:nvSpPr>
              <p:spPr>
                <a:xfrm>
                  <a:off x="6281928" y="4195210"/>
                  <a:ext cx="286511" cy="126972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>
                  <a:spAutoFit/>
                </a:bodyPr>
                <a:lstStyle/>
                <a:p>
                  <a:r>
                    <a:rPr lang="en-US" sz="700">
                      <a:solidFill>
                        <a:srgbClr val="003C71"/>
                      </a:solidFill>
                    </a:rPr>
                    <a:t>-5%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97CA7B6-01CF-4E55-A592-E8A2B679005E}"/>
                    </a:ext>
                  </a:extLst>
                </p:cNvPr>
                <p:cNvSpPr txBox="1"/>
                <p:nvPr/>
              </p:nvSpPr>
              <p:spPr>
                <a:xfrm>
                  <a:off x="7576645" y="4195209"/>
                  <a:ext cx="310895" cy="126972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>
                  <a:spAutoFit/>
                </a:bodyPr>
                <a:lstStyle/>
                <a:p>
                  <a:r>
                    <a:rPr lang="en-US" sz="700">
                      <a:solidFill>
                        <a:srgbClr val="003C71"/>
                      </a:solidFill>
                    </a:rPr>
                    <a:t>+5%</a:t>
                  </a:r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699DF0E-7923-4406-87E3-1DADAD34A640}"/>
                    </a:ext>
                  </a:extLst>
                </p:cNvPr>
                <p:cNvSpPr txBox="1"/>
                <p:nvPr/>
              </p:nvSpPr>
              <p:spPr>
                <a:xfrm>
                  <a:off x="5680005" y="2363499"/>
                  <a:ext cx="374127" cy="114171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>
                  <a:spAutoFit/>
                </a:bodyPr>
                <a:lstStyle/>
                <a:p>
                  <a:r>
                    <a:rPr lang="en-US" sz="700" dirty="0">
                      <a:solidFill>
                        <a:srgbClr val="003C71"/>
                      </a:solidFill>
                    </a:rPr>
                    <a:t>90°C</a:t>
                  </a: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98005B4-8BF9-40CE-8525-0F8014BBBB0D}"/>
                    </a:ext>
                  </a:extLst>
                </p:cNvPr>
                <p:cNvSpPr txBox="1"/>
                <p:nvPr/>
              </p:nvSpPr>
              <p:spPr>
                <a:xfrm>
                  <a:off x="5703931" y="3022686"/>
                  <a:ext cx="413405" cy="228342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>
                  <a:spAutoFit/>
                </a:bodyPr>
                <a:lstStyle/>
                <a:p>
                  <a:r>
                    <a:rPr lang="en-US" sz="700" b="1">
                      <a:solidFill>
                        <a:srgbClr val="003C71"/>
                      </a:solidFill>
                    </a:rPr>
                    <a:t>50°C Nominal</a:t>
                  </a: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DCDB1F0A-EB1C-4A6E-9584-C17F1F0621D8}"/>
                    </a:ext>
                  </a:extLst>
                </p:cNvPr>
                <p:cNvSpPr txBox="1"/>
                <p:nvPr/>
              </p:nvSpPr>
              <p:spPr>
                <a:xfrm>
                  <a:off x="6848568" y="4243968"/>
                  <a:ext cx="465731" cy="217666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600" b="1">
                      <a:solidFill>
                        <a:srgbClr val="003C71"/>
                      </a:solidFill>
                    </a:rPr>
                    <a:t>1.8 V</a:t>
                  </a:r>
                </a:p>
                <a:p>
                  <a:pPr algn="ctr"/>
                  <a:r>
                    <a:rPr lang="en-US" sz="600" b="1">
                      <a:solidFill>
                        <a:srgbClr val="003C71"/>
                      </a:solidFill>
                    </a:rPr>
                    <a:t>Nominal</a:t>
                  </a:r>
                </a:p>
              </p:txBody>
            </p:sp>
          </p:grp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644CB5E-B7DD-4A3C-9123-92AE7D79290F}"/>
                  </a:ext>
                </a:extLst>
              </p:cNvPr>
              <p:cNvSpPr txBox="1"/>
              <p:nvPr/>
            </p:nvSpPr>
            <p:spPr>
              <a:xfrm>
                <a:off x="5751640" y="3850827"/>
                <a:ext cx="265358" cy="114171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spAutoFit/>
              </a:bodyPr>
              <a:lstStyle/>
              <a:p>
                <a:r>
                  <a:rPr lang="en-US" sz="700" dirty="0">
                    <a:solidFill>
                      <a:srgbClr val="003C71"/>
                    </a:solidFill>
                  </a:rPr>
                  <a:t>-5°C</a:t>
                </a:r>
              </a:p>
            </p:txBody>
          </p:sp>
        </p:grp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57B7E016-34E3-B8E4-5EB6-C0F269729F73}"/>
              </a:ext>
            </a:extLst>
          </p:cNvPr>
          <p:cNvSpPr/>
          <p:nvPr/>
        </p:nvSpPr>
        <p:spPr>
          <a:xfrm>
            <a:off x="3566625" y="1870515"/>
            <a:ext cx="535224" cy="155295"/>
          </a:xfrm>
          <a:prstGeom prst="ellips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" dirty="0">
                <a:solidFill>
                  <a:schemeClr val="tx1"/>
                </a:solidFill>
              </a:rPr>
              <a:t>Slow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8D8A960-6F9C-7CAE-9CC8-B7477CAC14A4}"/>
              </a:ext>
            </a:extLst>
          </p:cNvPr>
          <p:cNvSpPr/>
          <p:nvPr/>
        </p:nvSpPr>
        <p:spPr>
          <a:xfrm>
            <a:off x="4659491" y="1859592"/>
            <a:ext cx="535224" cy="155295"/>
          </a:xfrm>
          <a:prstGeom prst="ellips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" dirty="0">
                <a:solidFill>
                  <a:schemeClr val="tx1"/>
                </a:solidFill>
              </a:rPr>
              <a:t>High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F6723FC-9606-0278-7C6E-544C259AACE2}"/>
              </a:ext>
            </a:extLst>
          </p:cNvPr>
          <p:cNvSpPr/>
          <p:nvPr/>
        </p:nvSpPr>
        <p:spPr>
          <a:xfrm>
            <a:off x="3566625" y="3279866"/>
            <a:ext cx="535224" cy="155295"/>
          </a:xfrm>
          <a:prstGeom prst="ellips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" dirty="0">
                <a:solidFill>
                  <a:schemeClr val="tx1"/>
                </a:solidFill>
              </a:rPr>
              <a:t>Low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26033AC-3ACF-0341-F865-1DD2978FCE1C}"/>
              </a:ext>
            </a:extLst>
          </p:cNvPr>
          <p:cNvSpPr/>
          <p:nvPr/>
        </p:nvSpPr>
        <p:spPr>
          <a:xfrm>
            <a:off x="4659491" y="3279865"/>
            <a:ext cx="535224" cy="155295"/>
          </a:xfrm>
          <a:prstGeom prst="ellips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" dirty="0">
                <a:solidFill>
                  <a:schemeClr val="tx1"/>
                </a:solidFill>
              </a:rPr>
              <a:t>Fast</a:t>
            </a:r>
          </a:p>
        </p:txBody>
      </p:sp>
    </p:spTree>
    <p:extLst>
      <p:ext uri="{BB962C8B-B14F-4D97-AF65-F5344CB8AC3E}">
        <p14:creationId xmlns:p14="http://schemas.microsoft.com/office/powerpoint/2010/main" val="304216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Executive Summary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electrical measurements are within spec.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Tested on Quad Mode at 42.67MHz.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BOM6.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Synthetic content.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Rx AC measurements not available.</a:t>
            </a:r>
          </a:p>
        </p:txBody>
      </p:sp>
    </p:spTree>
    <p:extLst>
      <p:ext uri="{BB962C8B-B14F-4D97-AF65-F5344CB8AC3E}">
        <p14:creationId xmlns:p14="http://schemas.microsoft.com/office/powerpoint/2010/main" val="2245567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39D9B4-A8E9-463F-A676-ED7CC797C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38AA0DA-7FDD-486F-8AD7-04774434E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Results</a:t>
            </a:r>
          </a:p>
        </p:txBody>
      </p:sp>
      <p:graphicFrame>
        <p:nvGraphicFramePr>
          <p:cNvPr id="5" name="Content Placeholder 7">
            <a:extLst>
              <a:ext uri="{FF2B5EF4-FFF2-40B4-BE49-F238E27FC236}">
                <a16:creationId xmlns:a16="http://schemas.microsoft.com/office/drawing/2014/main" id="{520C06A6-CDE1-48CF-8C90-8AC7AA9A0484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690276884"/>
              </p:ext>
            </p:extLst>
          </p:nvPr>
        </p:nvGraphicFramePr>
        <p:xfrm>
          <a:off x="263235" y="1707082"/>
          <a:ext cx="8378768" cy="2127048"/>
        </p:xfrm>
        <a:graphic>
          <a:graphicData uri="http://schemas.openxmlformats.org/drawingml/2006/table">
            <a:tbl>
              <a:tblPr/>
              <a:tblGrid>
                <a:gridCol w="1799072">
                  <a:extLst>
                    <a:ext uri="{9D8B030D-6E8A-4147-A177-3AD203B41FA5}">
                      <a16:colId xmlns:a16="http://schemas.microsoft.com/office/drawing/2014/main" val="303964117"/>
                    </a:ext>
                  </a:extLst>
                </a:gridCol>
                <a:gridCol w="816552">
                  <a:extLst>
                    <a:ext uri="{9D8B030D-6E8A-4147-A177-3AD203B41FA5}">
                      <a16:colId xmlns:a16="http://schemas.microsoft.com/office/drawing/2014/main" val="396921011"/>
                    </a:ext>
                  </a:extLst>
                </a:gridCol>
                <a:gridCol w="1019936">
                  <a:extLst>
                    <a:ext uri="{9D8B030D-6E8A-4147-A177-3AD203B41FA5}">
                      <a16:colId xmlns:a16="http://schemas.microsoft.com/office/drawing/2014/main" val="3311695424"/>
                    </a:ext>
                  </a:extLst>
                </a:gridCol>
                <a:gridCol w="950296">
                  <a:extLst>
                    <a:ext uri="{9D8B030D-6E8A-4147-A177-3AD203B41FA5}">
                      <a16:colId xmlns:a16="http://schemas.microsoft.com/office/drawing/2014/main" val="4147288456"/>
                    </a:ext>
                  </a:extLst>
                </a:gridCol>
                <a:gridCol w="318654">
                  <a:extLst>
                    <a:ext uri="{9D8B030D-6E8A-4147-A177-3AD203B41FA5}">
                      <a16:colId xmlns:a16="http://schemas.microsoft.com/office/drawing/2014/main" val="2746051136"/>
                    </a:ext>
                  </a:extLst>
                </a:gridCol>
                <a:gridCol w="1015076">
                  <a:extLst>
                    <a:ext uri="{9D8B030D-6E8A-4147-A177-3AD203B41FA5}">
                      <a16:colId xmlns:a16="http://schemas.microsoft.com/office/drawing/2014/main" val="1054769072"/>
                    </a:ext>
                  </a:extLst>
                </a:gridCol>
                <a:gridCol w="1087582">
                  <a:extLst>
                    <a:ext uri="{9D8B030D-6E8A-4147-A177-3AD203B41FA5}">
                      <a16:colId xmlns:a16="http://schemas.microsoft.com/office/drawing/2014/main" val="2659808179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642553035"/>
                    </a:ext>
                  </a:extLst>
                </a:gridCol>
              </a:tblGrid>
              <a:tr h="274118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t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Specification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Data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8670397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Industry / EDS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Units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 Measured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 Measured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Measurement location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46906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Frequency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EDS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41.82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43.52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MHz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41.91E+6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E3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43.41E+6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E3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32377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 in Setup of SPI MISO and SPI I/O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EDS</a:t>
                      </a:r>
                    </a:p>
                    <a:p>
                      <a:pPr algn="ctr" rtl="0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4.5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9.08E-9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E3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11.36E-9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3184455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 in Hold of SPI MISO and SPI I/O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EDS</a:t>
                      </a:r>
                    </a:p>
                    <a:p>
                      <a:pPr algn="ctr" rtl="0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12.75E-9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E3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14.41E-9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604928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Setup of SPI CS# assertion 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EDS</a:t>
                      </a:r>
                    </a:p>
                    <a:p>
                      <a:pPr algn="ctr" rtl="0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57.98E-9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E3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58E-9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CS ↓ 50% - CLK ↑ 50%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0679608"/>
                  </a:ext>
                </a:extLst>
              </a:tr>
              <a:tr h="267970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Hold of SPI CS# assertion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EDS</a:t>
                      </a:r>
                    </a:p>
                    <a:p>
                      <a:pPr algn="ctr" rtl="0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23.41E-9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E3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24.24E-9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CLK ↓ 50% -CS ↑ 50%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7702219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marR="0" lvl="0" indent="0" algn="l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SPI CLK High time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EDS</a:t>
                      </a:r>
                    </a:p>
                    <a:p>
                      <a:pPr algn="ctr" rtl="0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9.37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14.06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11.54E-9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E3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12.64E-9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E3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9485728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marR="0" lvl="0" indent="0" algn="l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SPI CLK Low time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EDS</a:t>
                      </a:r>
                    </a:p>
                    <a:p>
                      <a:pPr algn="ctr" rtl="0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9.37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14.06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10.92E-9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E3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11.93E-9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E3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5321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9057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Buffer settings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2863737" y="2584161"/>
            <a:ext cx="8838735" cy="19999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12" tIns="914112" rIns="914112" bIns="91411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5613" y="1168827"/>
            <a:ext cx="166878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003C71"/>
                </a:solidFill>
              </a:rPr>
              <a:t>Recommended values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546" y="2868462"/>
            <a:ext cx="3603919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003C71"/>
                </a:solidFill>
              </a:rPr>
              <a:t>Reading values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32F093-8851-44AA-B6B2-D4D90C9167FD}"/>
              </a:ext>
            </a:extLst>
          </p:cNvPr>
          <p:cNvSpPr/>
          <p:nvPr/>
        </p:nvSpPr>
        <p:spPr>
          <a:xfrm>
            <a:off x="327010" y="2568965"/>
            <a:ext cx="5454650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00" b="1" dirty="0"/>
              <a:t>From</a:t>
            </a:r>
            <a:r>
              <a:rPr lang="en-US" sz="700" dirty="0"/>
              <a:t>: NVL-PCD-H_GPIO_Buffer_Setting_2025WW12</a:t>
            </a:r>
            <a:endParaRPr lang="en-US" sz="700" u="sng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99793D-7F31-426C-B5F2-860B5A419165}"/>
              </a:ext>
            </a:extLst>
          </p:cNvPr>
          <p:cNvSpPr/>
          <p:nvPr/>
        </p:nvSpPr>
        <p:spPr>
          <a:xfrm>
            <a:off x="331346" y="3116199"/>
            <a:ext cx="5562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dirty="0">
                <a:latin typeface="Calibri" panose="020F0502020204030204" pitchFamily="34" charset="0"/>
                <a:ea typeface="Calibri" panose="020F0502020204030204" pitchFamily="34" charset="0"/>
              </a:rPr>
              <a:t>THC0</a:t>
            </a:r>
          </a:p>
          <a:p>
            <a:pPr lvl="1"/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</a:rPr>
              <a:t>1.8v</a:t>
            </a:r>
          </a:p>
          <a:p>
            <a:pPr lvl="1"/>
            <a:r>
              <a:rPr lang="en-US" sz="1000" dirty="0">
                <a:latin typeface="Calibri" panose="020F0502020204030204" pitchFamily="34" charset="0"/>
              </a:rPr>
              <a:t>	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1"/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</a:rPr>
              <a:t>   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E3CA82-BC8A-450B-87AA-1AD86E041F33}"/>
              </a:ext>
            </a:extLst>
          </p:cNvPr>
          <p:cNvSpPr/>
          <p:nvPr/>
        </p:nvSpPr>
        <p:spPr>
          <a:xfrm>
            <a:off x="695480" y="3966576"/>
            <a:ext cx="812151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0x3 = 40 ohm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2E847E-86FE-4A45-9247-BAB11F9C73CB}"/>
              </a:ext>
            </a:extLst>
          </p:cNvPr>
          <p:cNvSpPr/>
          <p:nvPr/>
        </p:nvSpPr>
        <p:spPr>
          <a:xfrm>
            <a:off x="327010" y="3721907"/>
            <a:ext cx="4395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>
                <a:latin typeface="Calibri" panose="020F0502020204030204" pitchFamily="34" charset="0"/>
                <a:ea typeface="Calibri" panose="020F0502020204030204" pitchFamily="34" charset="0"/>
              </a:rPr>
              <a:t>BDF</a:t>
            </a:r>
            <a:endParaRPr lang="en-US" sz="120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B3B6E40-D738-4151-8877-A3FD4DA38C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0237251"/>
              </p:ext>
            </p:extLst>
          </p:nvPr>
        </p:nvGraphicFramePr>
        <p:xfrm>
          <a:off x="1254868" y="3243864"/>
          <a:ext cx="5264930" cy="558165"/>
        </p:xfrm>
        <a:graphic>
          <a:graphicData uri="http://schemas.openxmlformats.org/drawingml/2006/table">
            <a:tbl>
              <a:tblPr firstRow="1" firstCol="1" bandRow="1"/>
              <a:tblGrid>
                <a:gridCol w="4195179">
                  <a:extLst>
                    <a:ext uri="{9D8B030D-6E8A-4147-A177-3AD203B41FA5}">
                      <a16:colId xmlns:a16="http://schemas.microsoft.com/office/drawing/2014/main" val="2185894098"/>
                    </a:ext>
                  </a:extLst>
                </a:gridCol>
                <a:gridCol w="1069751">
                  <a:extLst>
                    <a:ext uri="{9D8B030D-6E8A-4147-A177-3AD203B41FA5}">
                      <a16:colId xmlns:a16="http://schemas.microsoft.com/office/drawing/2014/main" val="284025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pcd.gpio.com1.sb.gpio_mem_1.fam_cfg_thc0_gspi0.strsel</a:t>
                      </a:r>
                      <a:endParaRPr lang="en-US" sz="1100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0x0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390462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pcd.gpio.com1.sb.gpio_mem_1.fam_rcomp_a_dw0_thc0_gspi0.pdstrval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0x3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6576311"/>
                  </a:ext>
                </a:extLst>
              </a:tr>
              <a:tr h="7507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pcd.gpio.com1.sb.gpio_mem_1.fam_rcomp_a_dw0_thc0_gspi0.pustrval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0x3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0255982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5F4D3A56-03C3-E40D-9BF9-F6D1C7A05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3" y="1314711"/>
            <a:ext cx="8904287" cy="1296367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6DC5E12-080D-4128-AD30-AD875F346B8A}"/>
              </a:ext>
            </a:extLst>
          </p:cNvPr>
          <p:cNvSpPr/>
          <p:nvPr/>
        </p:nvSpPr>
        <p:spPr>
          <a:xfrm>
            <a:off x="430546" y="1828700"/>
            <a:ext cx="6884654" cy="310496"/>
          </a:xfrm>
          <a:prstGeom prst="roundRect">
            <a:avLst/>
          </a:prstGeom>
          <a:noFill/>
          <a:ln w="285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661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Frequency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54723" y="3976722"/>
            <a:ext cx="2150301" cy="8463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dirty="0">
                <a:solidFill>
                  <a:srgbClr val="003C71"/>
                </a:solidFill>
              </a:rPr>
              <a:t>EDS: </a:t>
            </a:r>
          </a:p>
          <a:p>
            <a:r>
              <a:rPr lang="en-US" sz="1100" dirty="0">
                <a:solidFill>
                  <a:srgbClr val="003C71"/>
                </a:solidFill>
              </a:rPr>
              <a:t> </a:t>
            </a:r>
            <a:r>
              <a:rPr lang="en-US" sz="1100" dirty="0">
                <a:solidFill>
                  <a:schemeClr val="tx2"/>
                </a:solidFill>
              </a:rPr>
              <a:t>Min Spec: 41.82MHz</a:t>
            </a:r>
          </a:p>
          <a:p>
            <a:r>
              <a:rPr lang="en-US" sz="1100" dirty="0">
                <a:solidFill>
                  <a:schemeClr val="tx2"/>
                </a:solidFill>
              </a:rPr>
              <a:t> Max Spec: 43.52MHz</a:t>
            </a:r>
          </a:p>
          <a:p>
            <a:endParaRPr lang="en-US" sz="1100" dirty="0">
              <a:solidFill>
                <a:srgbClr val="003C71"/>
              </a:solidFill>
            </a:endParaRPr>
          </a:p>
          <a:p>
            <a:endParaRPr lang="en-US" sz="1100" dirty="0">
              <a:solidFill>
                <a:srgbClr val="003C71"/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BE680B0-E1FD-4599-97B8-19F38F8F22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6658634"/>
              </p:ext>
            </p:extLst>
          </p:nvPr>
        </p:nvGraphicFramePr>
        <p:xfrm>
          <a:off x="3561197" y="4140835"/>
          <a:ext cx="2018429" cy="259080"/>
        </p:xfrm>
        <a:graphic>
          <a:graphicData uri="http://schemas.openxmlformats.org/drawingml/2006/table">
            <a:tbl>
              <a:tblPr/>
              <a:tblGrid>
                <a:gridCol w="746310">
                  <a:extLst>
                    <a:ext uri="{9D8B030D-6E8A-4147-A177-3AD203B41FA5}">
                      <a16:colId xmlns:a16="http://schemas.microsoft.com/office/drawing/2014/main" val="1772085553"/>
                    </a:ext>
                  </a:extLst>
                </a:gridCol>
                <a:gridCol w="644540">
                  <a:extLst>
                    <a:ext uri="{9D8B030D-6E8A-4147-A177-3AD203B41FA5}">
                      <a16:colId xmlns:a16="http://schemas.microsoft.com/office/drawing/2014/main" val="3636323317"/>
                    </a:ext>
                  </a:extLst>
                </a:gridCol>
                <a:gridCol w="627579">
                  <a:extLst>
                    <a:ext uri="{9D8B030D-6E8A-4147-A177-3AD203B41FA5}">
                      <a16:colId xmlns:a16="http://schemas.microsoft.com/office/drawing/2014/main" val="2059380533"/>
                    </a:ext>
                  </a:extLst>
                </a:gridCol>
              </a:tblGrid>
              <a:tr h="120015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Minimum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Maximum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250165"/>
                  </a:ext>
                </a:extLst>
              </a:tr>
              <a:tr h="120015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Mean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41.91E+6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E3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43.41E+6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E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5819738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F2AD4566-34E6-6A1B-B839-1F08913A69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65"/>
          <a:stretch>
            <a:fillRect/>
          </a:stretch>
        </p:blipFill>
        <p:spPr>
          <a:xfrm>
            <a:off x="1828799" y="1066119"/>
            <a:ext cx="5637615" cy="285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138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Period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E0C835B-7B7F-4709-AF79-C56967E67A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3859538"/>
              </p:ext>
            </p:extLst>
          </p:nvPr>
        </p:nvGraphicFramePr>
        <p:xfrm>
          <a:off x="3762320" y="3862084"/>
          <a:ext cx="1511300" cy="259080"/>
        </p:xfrm>
        <a:graphic>
          <a:graphicData uri="http://schemas.openxmlformats.org/drawingml/2006/table">
            <a:tbl>
              <a:tblPr/>
              <a:tblGrid>
                <a:gridCol w="558800">
                  <a:extLst>
                    <a:ext uri="{9D8B030D-6E8A-4147-A177-3AD203B41FA5}">
                      <a16:colId xmlns:a16="http://schemas.microsoft.com/office/drawing/2014/main" val="1772085553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3636323317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59380533"/>
                    </a:ext>
                  </a:extLst>
                </a:gridCol>
              </a:tblGrid>
              <a:tr h="120015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Minimum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Maximum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250165"/>
                  </a:ext>
                </a:extLst>
              </a:tr>
              <a:tr h="120015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Mean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23.04E-9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23.86E-9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581973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5406198-63F9-4515-A525-2C01D85A1F4A}"/>
              </a:ext>
            </a:extLst>
          </p:cNvPr>
          <p:cNvSpPr txBox="1"/>
          <p:nvPr/>
        </p:nvSpPr>
        <p:spPr>
          <a:xfrm>
            <a:off x="6534912" y="4047744"/>
            <a:ext cx="1572768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003C71"/>
                </a:solidFill>
              </a:rPr>
              <a:t>Specification:</a:t>
            </a:r>
          </a:p>
          <a:p>
            <a:r>
              <a:rPr lang="en-US" sz="1100">
                <a:solidFill>
                  <a:srgbClr val="003C71"/>
                </a:solidFill>
              </a:rPr>
              <a:t>N/A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EDEDA5-5032-56D3-AEE4-191AE5E0B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6809" y="743188"/>
            <a:ext cx="5182323" cy="294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204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Duty cycle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E0C835B-7B7F-4709-AF79-C56967E67A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8684073"/>
              </p:ext>
            </p:extLst>
          </p:nvPr>
        </p:nvGraphicFramePr>
        <p:xfrm>
          <a:off x="3814763" y="4047744"/>
          <a:ext cx="1511300" cy="259080"/>
        </p:xfrm>
        <a:graphic>
          <a:graphicData uri="http://schemas.openxmlformats.org/drawingml/2006/table">
            <a:tbl>
              <a:tblPr/>
              <a:tblGrid>
                <a:gridCol w="558800">
                  <a:extLst>
                    <a:ext uri="{9D8B030D-6E8A-4147-A177-3AD203B41FA5}">
                      <a16:colId xmlns:a16="http://schemas.microsoft.com/office/drawing/2014/main" val="1772085553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3636323317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59380533"/>
                    </a:ext>
                  </a:extLst>
                </a:gridCol>
              </a:tblGrid>
              <a:tr h="120015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Minimum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Maximum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250165"/>
                  </a:ext>
                </a:extLst>
              </a:tr>
              <a:tr h="120015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Mean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49.61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53.53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581973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5406198-63F9-4515-A525-2C01D85A1F4A}"/>
              </a:ext>
            </a:extLst>
          </p:cNvPr>
          <p:cNvSpPr txBox="1"/>
          <p:nvPr/>
        </p:nvSpPr>
        <p:spPr>
          <a:xfrm>
            <a:off x="6534912" y="4047744"/>
            <a:ext cx="1572768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003C71"/>
                </a:solidFill>
              </a:rPr>
              <a:t>Specification:</a:t>
            </a:r>
          </a:p>
          <a:p>
            <a:r>
              <a:rPr lang="en-US" sz="1100">
                <a:solidFill>
                  <a:srgbClr val="003C71"/>
                </a:solidFill>
              </a:rPr>
              <a:t>N/A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25520E-5760-6371-608D-CED4F7647F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4041" y="1138037"/>
            <a:ext cx="4972744" cy="286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58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CLK High/Low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19655" y="1142572"/>
            <a:ext cx="647613" cy="16927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1100" dirty="0">
                <a:solidFill>
                  <a:srgbClr val="003C71"/>
                </a:solidFill>
              </a:rPr>
              <a:t>High time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72053" y="1142572"/>
            <a:ext cx="615553" cy="16927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1100" dirty="0">
                <a:solidFill>
                  <a:srgbClr val="003C71"/>
                </a:solidFill>
              </a:rPr>
              <a:t>Low time 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3E9FF14-BE22-4000-9DF4-F0EB0E24C6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729597"/>
              </p:ext>
            </p:extLst>
          </p:nvPr>
        </p:nvGraphicFramePr>
        <p:xfrm>
          <a:off x="1187811" y="3604781"/>
          <a:ext cx="1511300" cy="259080"/>
        </p:xfrm>
        <a:graphic>
          <a:graphicData uri="http://schemas.openxmlformats.org/drawingml/2006/table">
            <a:tbl>
              <a:tblPr/>
              <a:tblGrid>
                <a:gridCol w="558800">
                  <a:extLst>
                    <a:ext uri="{9D8B030D-6E8A-4147-A177-3AD203B41FA5}">
                      <a16:colId xmlns:a16="http://schemas.microsoft.com/office/drawing/2014/main" val="1772085553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3636323317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59380533"/>
                    </a:ext>
                  </a:extLst>
                </a:gridCol>
              </a:tblGrid>
              <a:tr h="120015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Minimum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Maximum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250165"/>
                  </a:ext>
                </a:extLst>
              </a:tr>
              <a:tr h="120015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Mean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11.54E-9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E3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12.64E-9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E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5819738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5C1831E-8039-4391-82C4-D3C354B0C5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9473591"/>
              </p:ext>
            </p:extLst>
          </p:nvPr>
        </p:nvGraphicFramePr>
        <p:xfrm>
          <a:off x="6324179" y="3604781"/>
          <a:ext cx="1511300" cy="259080"/>
        </p:xfrm>
        <a:graphic>
          <a:graphicData uri="http://schemas.openxmlformats.org/drawingml/2006/table">
            <a:tbl>
              <a:tblPr/>
              <a:tblGrid>
                <a:gridCol w="558800">
                  <a:extLst>
                    <a:ext uri="{9D8B030D-6E8A-4147-A177-3AD203B41FA5}">
                      <a16:colId xmlns:a16="http://schemas.microsoft.com/office/drawing/2014/main" val="1772085553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3636323317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59380533"/>
                    </a:ext>
                  </a:extLst>
                </a:gridCol>
              </a:tblGrid>
              <a:tr h="120015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Minimum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Maximum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250165"/>
                  </a:ext>
                </a:extLst>
              </a:tr>
              <a:tr h="120015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Mean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10.92E-9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E3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11.93E-9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E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581973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107E2A81-537B-4FDE-9AA0-B261EC168542}"/>
              </a:ext>
            </a:extLst>
          </p:cNvPr>
          <p:cNvSpPr txBox="1"/>
          <p:nvPr/>
        </p:nvSpPr>
        <p:spPr>
          <a:xfrm>
            <a:off x="7406865" y="4157544"/>
            <a:ext cx="1737135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dirty="0">
                <a:solidFill>
                  <a:srgbClr val="003C71"/>
                </a:solidFill>
              </a:rPr>
              <a:t>Specification:</a:t>
            </a:r>
          </a:p>
          <a:p>
            <a:r>
              <a:rPr lang="en-US" sz="1100" dirty="0">
                <a:solidFill>
                  <a:srgbClr val="003C71"/>
                </a:solidFill>
              </a:rPr>
              <a:t>Min Spec: 9.37ns</a:t>
            </a:r>
          </a:p>
          <a:p>
            <a:r>
              <a:rPr lang="en-US" sz="1100" dirty="0">
                <a:solidFill>
                  <a:srgbClr val="003C71"/>
                </a:solidFill>
              </a:rPr>
              <a:t>Max Spec: 14.06ns</a:t>
            </a:r>
          </a:p>
          <a:p>
            <a:endParaRPr lang="en-US" sz="1100" dirty="0">
              <a:solidFill>
                <a:srgbClr val="003C7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3099DE-3BF7-B806-305A-3042F7D20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4" y="1338230"/>
            <a:ext cx="4282341" cy="224017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AE5D71E-647C-1C07-759D-21A649F0C6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4404" y="1338231"/>
            <a:ext cx="4501352" cy="2240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477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Time CS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D3BEA2A-4FF5-4C53-A980-E366ECB046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7123703"/>
              </p:ext>
            </p:extLst>
          </p:nvPr>
        </p:nvGraphicFramePr>
        <p:xfrm>
          <a:off x="3814762" y="3922248"/>
          <a:ext cx="1511300" cy="259080"/>
        </p:xfrm>
        <a:graphic>
          <a:graphicData uri="http://schemas.openxmlformats.org/drawingml/2006/table">
            <a:tbl>
              <a:tblPr/>
              <a:tblGrid>
                <a:gridCol w="558800">
                  <a:extLst>
                    <a:ext uri="{9D8B030D-6E8A-4147-A177-3AD203B41FA5}">
                      <a16:colId xmlns:a16="http://schemas.microsoft.com/office/drawing/2014/main" val="1772085553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3636323317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59380533"/>
                    </a:ext>
                  </a:extLst>
                </a:gridCol>
              </a:tblGrid>
              <a:tr h="120015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Minimum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Maximum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250165"/>
                  </a:ext>
                </a:extLst>
              </a:tr>
              <a:tr h="120015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Mean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57.98E-9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E3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58E-9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5819738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3174C5EC-AC8A-4E25-A3B3-337BA4A94E29}"/>
              </a:ext>
            </a:extLst>
          </p:cNvPr>
          <p:cNvSpPr txBox="1"/>
          <p:nvPr/>
        </p:nvSpPr>
        <p:spPr>
          <a:xfrm>
            <a:off x="7776381" y="4095512"/>
            <a:ext cx="1572768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003C71"/>
                </a:solidFill>
              </a:rPr>
              <a:t>Specification:</a:t>
            </a:r>
          </a:p>
          <a:p>
            <a:r>
              <a:rPr lang="en-US" sz="1100">
                <a:solidFill>
                  <a:srgbClr val="003C71"/>
                </a:solidFill>
              </a:rPr>
              <a:t>Min Spec: 30ns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FBC318-EF13-6FAC-E1FC-52F08830F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4218" y="1008252"/>
            <a:ext cx="4872388" cy="2773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458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76E88-3EEB-FD49-D3DF-D897DADF8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E5AAA-CE9B-7A80-0DD7-003C8F07A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Hold Time CS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DDEE75F-07E1-AC00-EA6F-F831A70536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774863"/>
              </p:ext>
            </p:extLst>
          </p:nvPr>
        </p:nvGraphicFramePr>
        <p:xfrm>
          <a:off x="3769082" y="3785632"/>
          <a:ext cx="1511300" cy="259080"/>
        </p:xfrm>
        <a:graphic>
          <a:graphicData uri="http://schemas.openxmlformats.org/drawingml/2006/table">
            <a:tbl>
              <a:tblPr/>
              <a:tblGrid>
                <a:gridCol w="558800">
                  <a:extLst>
                    <a:ext uri="{9D8B030D-6E8A-4147-A177-3AD203B41FA5}">
                      <a16:colId xmlns:a16="http://schemas.microsoft.com/office/drawing/2014/main" val="1772085553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3636323317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59380533"/>
                    </a:ext>
                  </a:extLst>
                </a:gridCol>
              </a:tblGrid>
              <a:tr h="120015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Minimum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Maximum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250165"/>
                  </a:ext>
                </a:extLst>
              </a:tr>
              <a:tr h="120015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Mean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23.41E-9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E3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24.24E-9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581973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926613F-3F4D-0FDC-9529-F1AD318186EC}"/>
              </a:ext>
            </a:extLst>
          </p:cNvPr>
          <p:cNvSpPr txBox="1"/>
          <p:nvPr/>
        </p:nvSpPr>
        <p:spPr>
          <a:xfrm>
            <a:off x="7007454" y="4227082"/>
            <a:ext cx="1572768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dirty="0">
                <a:solidFill>
                  <a:srgbClr val="003C71"/>
                </a:solidFill>
              </a:rPr>
              <a:t>Specification:</a:t>
            </a:r>
          </a:p>
          <a:p>
            <a:r>
              <a:rPr lang="en-US" sz="1100" dirty="0">
                <a:solidFill>
                  <a:srgbClr val="003C71"/>
                </a:solidFill>
              </a:rPr>
              <a:t>Min Spec: 20ns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BD8A64-6D6A-30AF-27CF-74E00379CA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4546" y="978535"/>
            <a:ext cx="4891734" cy="271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216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time Tx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0756781-5C52-446C-9760-1EB04DE6B3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3240274"/>
              </p:ext>
            </p:extLst>
          </p:nvPr>
        </p:nvGraphicFramePr>
        <p:xfrm>
          <a:off x="3814763" y="4032598"/>
          <a:ext cx="1511300" cy="259080"/>
        </p:xfrm>
        <a:graphic>
          <a:graphicData uri="http://schemas.openxmlformats.org/drawingml/2006/table">
            <a:tbl>
              <a:tblPr/>
              <a:tblGrid>
                <a:gridCol w="558800">
                  <a:extLst>
                    <a:ext uri="{9D8B030D-6E8A-4147-A177-3AD203B41FA5}">
                      <a16:colId xmlns:a16="http://schemas.microsoft.com/office/drawing/2014/main" val="1772085553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3636323317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59380533"/>
                    </a:ext>
                  </a:extLst>
                </a:gridCol>
              </a:tblGrid>
              <a:tr h="120015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Minimum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Maximum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250165"/>
                  </a:ext>
                </a:extLst>
              </a:tr>
              <a:tr h="120015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Mean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9.08E-9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E3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11.36E-9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581973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7BD420E-4B0F-2C8D-56D9-5CAB42477388}"/>
              </a:ext>
            </a:extLst>
          </p:cNvPr>
          <p:cNvSpPr txBox="1"/>
          <p:nvPr/>
        </p:nvSpPr>
        <p:spPr>
          <a:xfrm>
            <a:off x="7244553" y="4261718"/>
            <a:ext cx="1572768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dirty="0">
                <a:solidFill>
                  <a:srgbClr val="003C71"/>
                </a:solidFill>
              </a:rPr>
              <a:t>Specification:</a:t>
            </a:r>
          </a:p>
          <a:p>
            <a:r>
              <a:rPr lang="en-US" sz="1100" dirty="0">
                <a:solidFill>
                  <a:srgbClr val="003C71"/>
                </a:solidFill>
              </a:rPr>
              <a:t>Min Spec: 4.5ns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6D00FF-D9D5-3338-71F0-34599BCACC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8198" y="1001844"/>
            <a:ext cx="5944430" cy="300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814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7DE52-F0C5-7066-48B5-CA73AC38A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DC4B7-0682-678A-586E-450FD2F5D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HOLD time Tx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35D2788-A14A-1F1E-AD74-6AABDD16E2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9437659"/>
              </p:ext>
            </p:extLst>
          </p:nvPr>
        </p:nvGraphicFramePr>
        <p:xfrm>
          <a:off x="3814762" y="3843999"/>
          <a:ext cx="1511300" cy="259080"/>
        </p:xfrm>
        <a:graphic>
          <a:graphicData uri="http://schemas.openxmlformats.org/drawingml/2006/table">
            <a:tbl>
              <a:tblPr/>
              <a:tblGrid>
                <a:gridCol w="558800">
                  <a:extLst>
                    <a:ext uri="{9D8B030D-6E8A-4147-A177-3AD203B41FA5}">
                      <a16:colId xmlns:a16="http://schemas.microsoft.com/office/drawing/2014/main" val="1772085553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3636323317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59380533"/>
                    </a:ext>
                  </a:extLst>
                </a:gridCol>
              </a:tblGrid>
              <a:tr h="120015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Minimum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Maximum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250165"/>
                  </a:ext>
                </a:extLst>
              </a:tr>
              <a:tr h="120015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Mean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12.75E-9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E3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14.41E-9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581973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8CF89DA-A854-5AC6-60C9-D8F50BB84940}"/>
              </a:ext>
            </a:extLst>
          </p:cNvPr>
          <p:cNvSpPr txBox="1"/>
          <p:nvPr/>
        </p:nvSpPr>
        <p:spPr>
          <a:xfrm>
            <a:off x="7244553" y="4261718"/>
            <a:ext cx="1572768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dirty="0">
                <a:solidFill>
                  <a:srgbClr val="003C71"/>
                </a:solidFill>
              </a:rPr>
              <a:t>Specification:</a:t>
            </a:r>
          </a:p>
          <a:p>
            <a:r>
              <a:rPr lang="en-US" sz="1100" dirty="0">
                <a:solidFill>
                  <a:srgbClr val="003C71"/>
                </a:solidFill>
              </a:rPr>
              <a:t>Min Spec: 2.5ns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242AE2-1108-8312-916C-A41617F3E5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9360" y="1040421"/>
            <a:ext cx="5662105" cy="2712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151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Rise time Tx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61210" y="1102882"/>
            <a:ext cx="280416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003C71"/>
                </a:solidFill>
              </a:rPr>
              <a:t>CLK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8866" y="1099496"/>
            <a:ext cx="922808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003C71"/>
                </a:solidFill>
              </a:rPr>
              <a:t>TXIO_0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B9921A8-78E7-47C2-83FD-92327CEE3F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4312542"/>
              </p:ext>
            </p:extLst>
          </p:nvPr>
        </p:nvGraphicFramePr>
        <p:xfrm>
          <a:off x="1156676" y="3737697"/>
          <a:ext cx="1511300" cy="259080"/>
        </p:xfrm>
        <a:graphic>
          <a:graphicData uri="http://schemas.openxmlformats.org/drawingml/2006/table">
            <a:tbl>
              <a:tblPr/>
              <a:tblGrid>
                <a:gridCol w="558800">
                  <a:extLst>
                    <a:ext uri="{9D8B030D-6E8A-4147-A177-3AD203B41FA5}">
                      <a16:colId xmlns:a16="http://schemas.microsoft.com/office/drawing/2014/main" val="1772085553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3636323317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59380533"/>
                    </a:ext>
                  </a:extLst>
                </a:gridCol>
              </a:tblGrid>
              <a:tr h="120015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Minimum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Maximum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250165"/>
                  </a:ext>
                </a:extLst>
              </a:tr>
              <a:tr h="120015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Mean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1.42E-9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3.28E-9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5819738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2C72DB4-5825-4EE5-8331-9B69319DFA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9097482"/>
              </p:ext>
            </p:extLst>
          </p:nvPr>
        </p:nvGraphicFramePr>
        <p:xfrm>
          <a:off x="5720374" y="3737697"/>
          <a:ext cx="1511300" cy="259080"/>
        </p:xfrm>
        <a:graphic>
          <a:graphicData uri="http://schemas.openxmlformats.org/drawingml/2006/table">
            <a:tbl>
              <a:tblPr/>
              <a:tblGrid>
                <a:gridCol w="558800">
                  <a:extLst>
                    <a:ext uri="{9D8B030D-6E8A-4147-A177-3AD203B41FA5}">
                      <a16:colId xmlns:a16="http://schemas.microsoft.com/office/drawing/2014/main" val="1772085553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3636323317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59380533"/>
                    </a:ext>
                  </a:extLst>
                </a:gridCol>
              </a:tblGrid>
              <a:tr h="120015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Minimum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Maximum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250165"/>
                  </a:ext>
                </a:extLst>
              </a:tr>
              <a:tr h="120015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Mean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1.37E-9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2.64E-9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5819738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95EF96AD-5537-415F-8BF5-1A7CE0F401FB}"/>
              </a:ext>
            </a:extLst>
          </p:cNvPr>
          <p:cNvSpPr txBox="1"/>
          <p:nvPr/>
        </p:nvSpPr>
        <p:spPr>
          <a:xfrm>
            <a:off x="6915912" y="4244594"/>
            <a:ext cx="1572768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003C71"/>
                </a:solidFill>
              </a:rPr>
              <a:t>Specification:</a:t>
            </a:r>
          </a:p>
          <a:p>
            <a:r>
              <a:rPr lang="en-US" sz="1100">
                <a:solidFill>
                  <a:srgbClr val="003C71"/>
                </a:solidFill>
              </a:rPr>
              <a:t>N/A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5B2D5B-E6F2-FFB4-C41A-9E36343DC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" y="1268773"/>
            <a:ext cx="4273489" cy="23494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8F120C-3CD0-A1AE-92C0-4E661DF2E9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458" y="1268772"/>
            <a:ext cx="4628363" cy="2349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781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fall time Tx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8173" y="1188953"/>
            <a:ext cx="280416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003C71"/>
                </a:solidFill>
              </a:rPr>
              <a:t>CLK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2892" y="1162126"/>
            <a:ext cx="419482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003C71"/>
                </a:solidFill>
              </a:rPr>
              <a:t>IO_0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B9921A8-78E7-47C2-83FD-92327CEE3F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4856554"/>
              </p:ext>
            </p:extLst>
          </p:nvPr>
        </p:nvGraphicFramePr>
        <p:xfrm>
          <a:off x="1361904" y="3742617"/>
          <a:ext cx="1511300" cy="259080"/>
        </p:xfrm>
        <a:graphic>
          <a:graphicData uri="http://schemas.openxmlformats.org/drawingml/2006/table">
            <a:tbl>
              <a:tblPr/>
              <a:tblGrid>
                <a:gridCol w="558800">
                  <a:extLst>
                    <a:ext uri="{9D8B030D-6E8A-4147-A177-3AD203B41FA5}">
                      <a16:colId xmlns:a16="http://schemas.microsoft.com/office/drawing/2014/main" val="1772085553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3636323317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59380533"/>
                    </a:ext>
                  </a:extLst>
                </a:gridCol>
              </a:tblGrid>
              <a:tr h="120015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Minimum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Maximum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250165"/>
                  </a:ext>
                </a:extLst>
              </a:tr>
              <a:tr h="120015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Mean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1.47E-9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4.63E-9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5819738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2C72DB4-5825-4EE5-8331-9B69319DFA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6056963"/>
              </p:ext>
            </p:extLst>
          </p:nvPr>
        </p:nvGraphicFramePr>
        <p:xfrm>
          <a:off x="6036983" y="3737243"/>
          <a:ext cx="1511300" cy="259080"/>
        </p:xfrm>
        <a:graphic>
          <a:graphicData uri="http://schemas.openxmlformats.org/drawingml/2006/table">
            <a:tbl>
              <a:tblPr/>
              <a:tblGrid>
                <a:gridCol w="558800">
                  <a:extLst>
                    <a:ext uri="{9D8B030D-6E8A-4147-A177-3AD203B41FA5}">
                      <a16:colId xmlns:a16="http://schemas.microsoft.com/office/drawing/2014/main" val="1772085553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3636323317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59380533"/>
                    </a:ext>
                  </a:extLst>
                </a:gridCol>
              </a:tblGrid>
              <a:tr h="120015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Minimum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Maximum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250165"/>
                  </a:ext>
                </a:extLst>
              </a:tr>
              <a:tr h="120015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Mean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1.21E-9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3.9E-9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5819738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8F547891-0AC9-4109-A58C-21F0B24EAFFD}"/>
              </a:ext>
            </a:extLst>
          </p:cNvPr>
          <p:cNvSpPr txBox="1"/>
          <p:nvPr/>
        </p:nvSpPr>
        <p:spPr>
          <a:xfrm>
            <a:off x="6534912" y="4047744"/>
            <a:ext cx="1572768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003C71"/>
                </a:solidFill>
              </a:rPr>
              <a:t>Specification:</a:t>
            </a:r>
          </a:p>
          <a:p>
            <a:r>
              <a:rPr lang="en-US" sz="1100">
                <a:solidFill>
                  <a:srgbClr val="003C71"/>
                </a:solidFill>
              </a:rPr>
              <a:t>N/A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49AA91-E403-073A-D783-06AC512907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53" y="1330480"/>
            <a:ext cx="4269588" cy="23287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577273-5F11-A3A2-B42E-BEFD841516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0413" y="1330480"/>
            <a:ext cx="4478993" cy="2328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018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Vmax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EF96AD-5537-415F-8BF5-1A7CE0F401FB}"/>
              </a:ext>
            </a:extLst>
          </p:cNvPr>
          <p:cNvSpPr txBox="1"/>
          <p:nvPr/>
        </p:nvSpPr>
        <p:spPr>
          <a:xfrm>
            <a:off x="7435279" y="4312807"/>
            <a:ext cx="1572768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dirty="0">
                <a:solidFill>
                  <a:srgbClr val="003C71"/>
                </a:solidFill>
              </a:rPr>
              <a:t>Specification:</a:t>
            </a:r>
          </a:p>
          <a:p>
            <a:r>
              <a:rPr lang="en-US" sz="1100" dirty="0">
                <a:solidFill>
                  <a:srgbClr val="003C71"/>
                </a:solidFill>
              </a:rPr>
              <a:t>N/A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D3CCBD9-110A-B554-2B89-15E62B982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2194643"/>
              </p:ext>
            </p:extLst>
          </p:nvPr>
        </p:nvGraphicFramePr>
        <p:xfrm>
          <a:off x="3807675" y="4223004"/>
          <a:ext cx="1511300" cy="259080"/>
        </p:xfrm>
        <a:graphic>
          <a:graphicData uri="http://schemas.openxmlformats.org/drawingml/2006/table">
            <a:tbl>
              <a:tblPr/>
              <a:tblGrid>
                <a:gridCol w="558800">
                  <a:extLst>
                    <a:ext uri="{9D8B030D-6E8A-4147-A177-3AD203B41FA5}">
                      <a16:colId xmlns:a16="http://schemas.microsoft.com/office/drawing/2014/main" val="1772085553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3636323317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59380533"/>
                    </a:ext>
                  </a:extLst>
                </a:gridCol>
              </a:tblGrid>
              <a:tr h="120015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Minimum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Maximum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250165"/>
                  </a:ext>
                </a:extLst>
              </a:tr>
              <a:tr h="120015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Mean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1.72 V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2.12 V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5819738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87094201-93A7-C260-16B2-11C937DC7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210" y="1153062"/>
            <a:ext cx="6889579" cy="283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179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vmin</a:t>
            </a:r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EF96AD-5537-415F-8BF5-1A7CE0F401FB}"/>
              </a:ext>
            </a:extLst>
          </p:cNvPr>
          <p:cNvSpPr txBox="1"/>
          <p:nvPr/>
        </p:nvSpPr>
        <p:spPr>
          <a:xfrm>
            <a:off x="7176262" y="4219194"/>
            <a:ext cx="1572768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dirty="0">
                <a:solidFill>
                  <a:srgbClr val="003C71"/>
                </a:solidFill>
              </a:rPr>
              <a:t>Specification:</a:t>
            </a:r>
          </a:p>
          <a:p>
            <a:r>
              <a:rPr lang="en-US" sz="1100" dirty="0">
                <a:solidFill>
                  <a:srgbClr val="003C71"/>
                </a:solidFill>
              </a:rPr>
              <a:t>N/A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162707-691C-4F40-3329-E7753EE19D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464" y="1177528"/>
            <a:ext cx="6983897" cy="2801873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ED4C3CA-AF57-50D8-F135-8045507AAF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9901437"/>
              </p:ext>
            </p:extLst>
          </p:nvPr>
        </p:nvGraphicFramePr>
        <p:xfrm>
          <a:off x="3807675" y="4223004"/>
          <a:ext cx="1511300" cy="259080"/>
        </p:xfrm>
        <a:graphic>
          <a:graphicData uri="http://schemas.openxmlformats.org/drawingml/2006/table">
            <a:tbl>
              <a:tblPr/>
              <a:tblGrid>
                <a:gridCol w="480307">
                  <a:extLst>
                    <a:ext uri="{9D8B030D-6E8A-4147-A177-3AD203B41FA5}">
                      <a16:colId xmlns:a16="http://schemas.microsoft.com/office/drawing/2014/main" val="1772085553"/>
                    </a:ext>
                  </a:extLst>
                </a:gridCol>
                <a:gridCol w="561093">
                  <a:extLst>
                    <a:ext uri="{9D8B030D-6E8A-4147-A177-3AD203B41FA5}">
                      <a16:colId xmlns:a16="http://schemas.microsoft.com/office/drawing/2014/main" val="3636323317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59380533"/>
                    </a:ext>
                  </a:extLst>
                </a:gridCol>
              </a:tblGrid>
              <a:tr h="120015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Minimum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Maximum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250165"/>
                  </a:ext>
                </a:extLst>
              </a:tr>
              <a:tr h="120015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Mean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-226.89 mV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-46.68 mV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5819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6218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8694B3-19CA-4734-A2F3-51A7C4B2A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EADE78E-BB46-43FE-BDCC-430C269AA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Reviewers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42B294-8673-4A0D-9236-258832C6CAB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/>
              <a:t>Here list the people attending and signing up the results review from the different teams: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1A3BA160-AB10-48D3-ACA8-8238FDA878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8710493"/>
              </p:ext>
            </p:extLst>
          </p:nvPr>
        </p:nvGraphicFramePr>
        <p:xfrm>
          <a:off x="1521619" y="1810658"/>
          <a:ext cx="6096000" cy="276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03443612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4287039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159474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Group/responsibility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Go/no-go?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4272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1C5"/>
                          </a:solidFill>
                          <a:effectLst/>
                          <a:uLnTx/>
                          <a:uFillTx/>
                          <a:latin typeface="Intel Clear"/>
                          <a:ea typeface="+mn-ea"/>
                          <a:cs typeface="Intel Clear" panose="020B0604020203020204" pitchFamily="34" charset="0"/>
                        </a:rPr>
                        <a:t>Design/Integration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N/A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673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/>
                        <a:t>Signal integrity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5951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1C5"/>
                          </a:solidFill>
                          <a:effectLst/>
                          <a:uLnTx/>
                          <a:uFillTx/>
                          <a:latin typeface="Intel Clear"/>
                          <a:ea typeface="+mn-ea"/>
                          <a:cs typeface="Intel Clear" panose="020B0604020203020204" pitchFamily="34" charset="0"/>
                        </a:rPr>
                        <a:t>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5952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1C5"/>
                          </a:solidFill>
                          <a:effectLst/>
                          <a:uLnTx/>
                          <a:uFillTx/>
                          <a:latin typeface="Intel Clear"/>
                          <a:ea typeface="+mn-ea"/>
                          <a:cs typeface="Intel Clear" panose="020B0604020203020204" pitchFamily="34" charset="0"/>
                        </a:rPr>
                        <a:t>DV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135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1C5"/>
                          </a:solidFill>
                          <a:effectLst/>
                          <a:uLnTx/>
                          <a:uFillTx/>
                          <a:latin typeface="Intel Clear"/>
                          <a:ea typeface="+mn-ea"/>
                          <a:cs typeface="Intel Clear" panose="020B0604020203020204" pitchFamily="34" charset="0"/>
                        </a:rPr>
                        <a:t>HVM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4089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2984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D5C7B66-936F-4A33-B846-CBCDBE75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Backup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AF882A-3B81-4089-8358-ECE67C300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229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External Design Specification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00181F-0332-BD1B-0401-53D6DF133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177" y="1572138"/>
            <a:ext cx="8011036" cy="193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22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2A2DCBB-3555-41BD-AE07-4E5B3F362E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59"/>
          <a:stretch>
            <a:fillRect/>
          </a:stretch>
        </p:blipFill>
        <p:spPr>
          <a:xfrm>
            <a:off x="3651475" y="1473200"/>
            <a:ext cx="5492525" cy="12100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301" y="122565"/>
            <a:ext cx="8229600" cy="868680"/>
          </a:xfrm>
        </p:spPr>
        <p:txBody>
          <a:bodyPr/>
          <a:lstStyle/>
          <a:p>
            <a:r>
              <a:rPr lang="en-US"/>
              <a:t>Test points</a:t>
            </a:r>
            <a:br>
              <a:rPr lang="en-US"/>
            </a:br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376136" y="1063687"/>
            <a:ext cx="252919" cy="251059"/>
          </a:xfrm>
          <a:prstGeom prst="ellipse">
            <a:avLst/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76136" y="1551452"/>
            <a:ext cx="252919" cy="252919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76136" y="2041077"/>
            <a:ext cx="252919" cy="252919"/>
          </a:xfrm>
          <a:prstGeom prst="ellipse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724699" y="1100983"/>
            <a:ext cx="693906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003C71"/>
                </a:solidFill>
              </a:rPr>
              <a:t>SPI0_CLK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332" y="1593272"/>
            <a:ext cx="693906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003C71"/>
                </a:solidFill>
              </a:rPr>
              <a:t>SPI0_CS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332" y="2080233"/>
            <a:ext cx="693906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003C71"/>
                </a:solidFill>
              </a:rPr>
              <a:t>SPI0_IO0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79A5529-E473-4F41-999C-3AD0376C6CD9}"/>
              </a:ext>
            </a:extLst>
          </p:cNvPr>
          <p:cNvSpPr txBox="1"/>
          <p:nvPr/>
        </p:nvSpPr>
        <p:spPr>
          <a:xfrm>
            <a:off x="8337550" y="4572000"/>
            <a:ext cx="53975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003C71"/>
                </a:solidFill>
              </a:rPr>
              <a:t>Go </a:t>
            </a:r>
            <a:r>
              <a:rPr lang="en-US" sz="1100">
                <a:solidFill>
                  <a:srgbClr val="003C71"/>
                </a:solidFill>
                <a:hlinkClick r:id="rId4" action="ppaction://hlinksldjump"/>
              </a:rPr>
              <a:t>back</a:t>
            </a:r>
            <a:endParaRPr lang="en-US" sz="1100">
              <a:solidFill>
                <a:srgbClr val="003C7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7E0751-DEAB-425F-8FB7-F9AD1CD27EA9}"/>
              </a:ext>
            </a:extLst>
          </p:cNvPr>
          <p:cNvSpPr txBox="1"/>
          <p:nvPr/>
        </p:nvSpPr>
        <p:spPr>
          <a:xfrm>
            <a:off x="6729856" y="3793170"/>
            <a:ext cx="1805045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dirty="0">
                <a:solidFill>
                  <a:srgbClr val="003C71"/>
                </a:solidFill>
              </a:rPr>
              <a:t>All probes were collocated at end of cable (TP connector)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CB41EF-ADA0-4306-B7A9-C56B00C2713E}"/>
              </a:ext>
            </a:extLst>
          </p:cNvPr>
          <p:cNvSpPr/>
          <p:nvPr/>
        </p:nvSpPr>
        <p:spPr>
          <a:xfrm>
            <a:off x="6729856" y="555905"/>
            <a:ext cx="2147444" cy="6462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CLK, MOSI, MISO, CS,IO2,IO3</a:t>
            </a:r>
            <a:endParaRPr lang="en-US" b="1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7A11920-4C3A-4E36-9F65-4AE70DF253F3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7677150" y="1202201"/>
            <a:ext cx="126428" cy="868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7E3D8DC-4550-4F1E-975A-42AA3EF8E5A3}"/>
              </a:ext>
            </a:extLst>
          </p:cNvPr>
          <p:cNvSpPr txBox="1"/>
          <p:nvPr/>
        </p:nvSpPr>
        <p:spPr>
          <a:xfrm>
            <a:off x="6118649" y="2144221"/>
            <a:ext cx="351778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00"/>
              <a:t>3.9 Ohm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6192AF0-5585-423F-86D7-15E893CE3740}"/>
              </a:ext>
            </a:extLst>
          </p:cNvPr>
          <p:cNvSpPr/>
          <p:nvPr/>
        </p:nvSpPr>
        <p:spPr>
          <a:xfrm>
            <a:off x="376136" y="2528038"/>
            <a:ext cx="252919" cy="25291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C5A1D2-CC5D-4FAD-A5F2-0DCC932C0FB8}"/>
              </a:ext>
            </a:extLst>
          </p:cNvPr>
          <p:cNvSpPr txBox="1"/>
          <p:nvPr/>
        </p:nvSpPr>
        <p:spPr>
          <a:xfrm>
            <a:off x="726332" y="2567194"/>
            <a:ext cx="693906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dirty="0">
                <a:solidFill>
                  <a:srgbClr val="003C71"/>
                </a:solidFill>
              </a:rPr>
              <a:t>SPI0_IO1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F76F2F4-4E58-88E5-5577-70F54063F0D3}"/>
              </a:ext>
            </a:extLst>
          </p:cNvPr>
          <p:cNvSpPr/>
          <p:nvPr/>
        </p:nvSpPr>
        <p:spPr>
          <a:xfrm>
            <a:off x="376136" y="2930360"/>
            <a:ext cx="252919" cy="25291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092E87-69C8-7ECE-E0BF-E82E8DA3587B}"/>
              </a:ext>
            </a:extLst>
          </p:cNvPr>
          <p:cNvSpPr txBox="1"/>
          <p:nvPr/>
        </p:nvSpPr>
        <p:spPr>
          <a:xfrm>
            <a:off x="726332" y="2969516"/>
            <a:ext cx="693906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dirty="0">
                <a:solidFill>
                  <a:srgbClr val="003C71"/>
                </a:solidFill>
              </a:rPr>
              <a:t>SPI0_IO2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7537899-01D8-D48E-966E-E466A23A8D39}"/>
              </a:ext>
            </a:extLst>
          </p:cNvPr>
          <p:cNvSpPr/>
          <p:nvPr/>
        </p:nvSpPr>
        <p:spPr>
          <a:xfrm>
            <a:off x="376136" y="3299974"/>
            <a:ext cx="252919" cy="252919"/>
          </a:xfrm>
          <a:prstGeom prst="ellipse">
            <a:avLst/>
          </a:prstGeom>
          <a:solidFill>
            <a:srgbClr val="E11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0FA675-4ADC-5861-B6C3-2C63E36FDCFD}"/>
              </a:ext>
            </a:extLst>
          </p:cNvPr>
          <p:cNvSpPr txBox="1"/>
          <p:nvPr/>
        </p:nvSpPr>
        <p:spPr>
          <a:xfrm>
            <a:off x="726332" y="3339130"/>
            <a:ext cx="693906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dirty="0">
                <a:solidFill>
                  <a:srgbClr val="003C71"/>
                </a:solidFill>
              </a:rPr>
              <a:t>SPI0_IO3</a:t>
            </a:r>
          </a:p>
        </p:txBody>
      </p:sp>
    </p:spTree>
    <p:extLst>
      <p:ext uri="{BB962C8B-B14F-4D97-AF65-F5344CB8AC3E}">
        <p14:creationId xmlns:p14="http://schemas.microsoft.com/office/powerpoint/2010/main" val="2815717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/>
              <a:t>Trace length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2B9F144-CD7D-4B20-94FA-D9D344C018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009872"/>
              </p:ext>
            </p:extLst>
          </p:nvPr>
        </p:nvGraphicFramePr>
        <p:xfrm>
          <a:off x="3497586" y="915274"/>
          <a:ext cx="1907049" cy="1325006"/>
        </p:xfrm>
        <a:graphic>
          <a:graphicData uri="http://schemas.openxmlformats.org/drawingml/2006/table">
            <a:tbl>
              <a:tblPr/>
              <a:tblGrid>
                <a:gridCol w="751467">
                  <a:extLst>
                    <a:ext uri="{9D8B030D-6E8A-4147-A177-3AD203B41FA5}">
                      <a16:colId xmlns:a16="http://schemas.microsoft.com/office/drawing/2014/main" val="1093633825"/>
                    </a:ext>
                  </a:extLst>
                </a:gridCol>
                <a:gridCol w="1155582">
                  <a:extLst>
                    <a:ext uri="{9D8B030D-6E8A-4147-A177-3AD203B41FA5}">
                      <a16:colId xmlns:a16="http://schemas.microsoft.com/office/drawing/2014/main" val="3453004251"/>
                    </a:ext>
                  </a:extLst>
                </a:gridCol>
              </a:tblGrid>
              <a:tr h="19812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Signal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 Board Length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880624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 dirty="0">
                          <a:solidFill>
                            <a:srgbClr val="92D050"/>
                          </a:solidFill>
                          <a:effectLst/>
                          <a:latin typeface="Intel Clear" panose="020B0604020203020204" pitchFamily="34" charset="0"/>
                        </a:rPr>
                        <a:t>IO_0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222.4785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5513912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>
                          <a:solidFill>
                            <a:srgbClr val="003C71"/>
                          </a:solidFill>
                          <a:effectLst/>
                          <a:latin typeface="Intel Clear" panose="020B0604020203020204" pitchFamily="34" charset="0"/>
                        </a:rPr>
                        <a:t>IO_1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220.6482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003416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 dirty="0">
                          <a:solidFill>
                            <a:schemeClr val="accent3"/>
                          </a:solidFill>
                          <a:effectLst/>
                          <a:latin typeface="Intel Clear" panose="020B0604020203020204" pitchFamily="34" charset="0"/>
                        </a:rPr>
                        <a:t>CLK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220.1755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313065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 dirty="0">
                          <a:solidFill>
                            <a:srgbClr val="F83308"/>
                          </a:solidFill>
                          <a:effectLst/>
                          <a:latin typeface="Intel Clear" panose="020B0604020203020204" pitchFamily="34" charset="0"/>
                        </a:rPr>
                        <a:t>CS0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18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221.3482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816805"/>
                  </a:ext>
                </a:extLst>
              </a:tr>
              <a:tr h="182006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 dirty="0">
                          <a:solidFill>
                            <a:srgbClr val="00AEEF"/>
                          </a:solidFill>
                          <a:effectLst/>
                          <a:latin typeface="Intel Clear" panose="020B0604020203020204" pitchFamily="34" charset="0"/>
                        </a:rPr>
                        <a:t>IO_2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18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218.6481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18933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 dirty="0">
                          <a:solidFill>
                            <a:srgbClr val="E11AE6"/>
                          </a:solidFill>
                          <a:effectLst/>
                          <a:latin typeface="Intel Clear" panose="020B0604020203020204" pitchFamily="34" charset="0"/>
                        </a:rPr>
                        <a:t>IO_3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18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218.5231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260193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878E3E3-F35A-49CE-A7B5-A4EC48B4EF92}"/>
              </a:ext>
            </a:extLst>
          </p:cNvPr>
          <p:cNvSpPr txBox="1"/>
          <p:nvPr/>
        </p:nvSpPr>
        <p:spPr>
          <a:xfrm>
            <a:off x="6431169" y="2571750"/>
            <a:ext cx="353539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chemeClr val="bg1"/>
                </a:solidFill>
              </a:rPr>
              <a:t>PCH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0C7A01-1FE3-4B28-92A1-D4EA7B3654CC}"/>
              </a:ext>
            </a:extLst>
          </p:cNvPr>
          <p:cNvSpPr txBox="1"/>
          <p:nvPr/>
        </p:nvSpPr>
        <p:spPr>
          <a:xfrm>
            <a:off x="5350528" y="3108947"/>
            <a:ext cx="493143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chemeClr val="bg1"/>
                </a:solidFill>
              </a:rPr>
              <a:t>Flash 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AFA9EA-7359-49C4-8680-C5AA2ADDD8C2}"/>
              </a:ext>
            </a:extLst>
          </p:cNvPr>
          <p:cNvSpPr txBox="1"/>
          <p:nvPr/>
        </p:nvSpPr>
        <p:spPr>
          <a:xfrm>
            <a:off x="6538136" y="3463759"/>
            <a:ext cx="493143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chemeClr val="bg1"/>
                </a:solidFill>
              </a:rPr>
              <a:t>Flash 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885A04-EADE-4CE9-9856-B0EE72A3190A}"/>
              </a:ext>
            </a:extLst>
          </p:cNvPr>
          <p:cNvSpPr txBox="1"/>
          <p:nvPr/>
        </p:nvSpPr>
        <p:spPr>
          <a:xfrm>
            <a:off x="5843671" y="4124107"/>
            <a:ext cx="326783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chemeClr val="bg1"/>
                </a:solidFill>
              </a:rPr>
              <a:t>TPM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6711FF6-61EF-47FA-A952-8AB6904CF4DB}"/>
              </a:ext>
            </a:extLst>
          </p:cNvPr>
          <p:cNvCxnSpPr>
            <a:cxnSpLocks/>
          </p:cNvCxnSpPr>
          <p:nvPr/>
        </p:nvCxnSpPr>
        <p:spPr>
          <a:xfrm>
            <a:off x="5784769" y="3278224"/>
            <a:ext cx="162321" cy="185535"/>
          </a:xfrm>
          <a:prstGeom prst="straightConnector1">
            <a:avLst/>
          </a:prstGeom>
          <a:ln w="9525">
            <a:solidFill>
              <a:schemeClr val="bg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2C27B20-41FF-448F-8498-CBA31D0E0637}"/>
              </a:ext>
            </a:extLst>
          </p:cNvPr>
          <p:cNvCxnSpPr>
            <a:cxnSpLocks/>
          </p:cNvCxnSpPr>
          <p:nvPr/>
        </p:nvCxnSpPr>
        <p:spPr>
          <a:xfrm flipH="1">
            <a:off x="6268177" y="3548397"/>
            <a:ext cx="269959" cy="0"/>
          </a:xfrm>
          <a:prstGeom prst="straightConnector1">
            <a:avLst/>
          </a:prstGeom>
          <a:ln w="9525">
            <a:solidFill>
              <a:schemeClr val="bg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B890AE8-EF51-40B3-B788-1BD2EFC2B762}"/>
              </a:ext>
            </a:extLst>
          </p:cNvPr>
          <p:cNvCxnSpPr>
            <a:cxnSpLocks/>
          </p:cNvCxnSpPr>
          <p:nvPr/>
        </p:nvCxnSpPr>
        <p:spPr>
          <a:xfrm flipV="1">
            <a:off x="5947090" y="3943787"/>
            <a:ext cx="1" cy="145750"/>
          </a:xfrm>
          <a:prstGeom prst="straightConnector1">
            <a:avLst/>
          </a:prstGeom>
          <a:ln w="9525">
            <a:solidFill>
              <a:schemeClr val="bg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7DAB557-F662-3057-C37A-233DFB7C99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0742109"/>
              </p:ext>
            </p:extLst>
          </p:nvPr>
        </p:nvGraphicFramePr>
        <p:xfrm>
          <a:off x="3497587" y="2612238"/>
          <a:ext cx="1907049" cy="1470660"/>
        </p:xfrm>
        <a:graphic>
          <a:graphicData uri="http://schemas.openxmlformats.org/drawingml/2006/table">
            <a:tbl>
              <a:tblPr/>
              <a:tblGrid>
                <a:gridCol w="751467">
                  <a:extLst>
                    <a:ext uri="{9D8B030D-6E8A-4147-A177-3AD203B41FA5}">
                      <a16:colId xmlns:a16="http://schemas.microsoft.com/office/drawing/2014/main" val="1093633825"/>
                    </a:ext>
                  </a:extLst>
                </a:gridCol>
                <a:gridCol w="1155582">
                  <a:extLst>
                    <a:ext uri="{9D8B030D-6E8A-4147-A177-3AD203B41FA5}">
                      <a16:colId xmlns:a16="http://schemas.microsoft.com/office/drawing/2014/main" val="3453004251"/>
                    </a:ext>
                  </a:extLst>
                </a:gridCol>
              </a:tblGrid>
              <a:tr h="19812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Signal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 Trace Length with cable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880624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>
                          <a:solidFill>
                            <a:srgbClr val="92D050"/>
                          </a:solidFill>
                          <a:effectLst/>
                          <a:latin typeface="Intel Clear" panose="020B0604020203020204" pitchFamily="34" charset="0"/>
                        </a:rPr>
                        <a:t>IO_0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281.3751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5513912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>
                          <a:solidFill>
                            <a:srgbClr val="003C71"/>
                          </a:solidFill>
                          <a:effectLst/>
                          <a:latin typeface="Intel Clear" panose="020B0604020203020204" pitchFamily="34" charset="0"/>
                        </a:rPr>
                        <a:t>IO_1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281.5366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003416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 dirty="0">
                          <a:solidFill>
                            <a:schemeClr val="accent3"/>
                          </a:solidFill>
                          <a:effectLst/>
                          <a:latin typeface="Intel Clear" panose="020B0604020203020204" pitchFamily="34" charset="0"/>
                        </a:rPr>
                        <a:t>CLK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281.5642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313065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 dirty="0">
                          <a:solidFill>
                            <a:srgbClr val="F83308"/>
                          </a:solidFill>
                          <a:effectLst/>
                          <a:latin typeface="Intel Clear" panose="020B0604020203020204" pitchFamily="34" charset="0"/>
                        </a:rPr>
                        <a:t>CS0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18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282.1022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8168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 dirty="0">
                          <a:solidFill>
                            <a:srgbClr val="00AEEF"/>
                          </a:solidFill>
                          <a:effectLst/>
                          <a:latin typeface="Intel Clear" panose="020B0604020203020204" pitchFamily="34" charset="0"/>
                        </a:rPr>
                        <a:t>IO_2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18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281.5702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663968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 dirty="0">
                          <a:solidFill>
                            <a:srgbClr val="E11AE6"/>
                          </a:solidFill>
                          <a:effectLst/>
                          <a:latin typeface="Intel Clear" panose="020B0604020203020204" pitchFamily="34" charset="0"/>
                        </a:rPr>
                        <a:t>IO_3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18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281.3218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66112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1DF98AC-3EA4-0131-E77F-3DE70A77B7A5}"/>
              </a:ext>
            </a:extLst>
          </p:cNvPr>
          <p:cNvSpPr txBox="1"/>
          <p:nvPr/>
        </p:nvSpPr>
        <p:spPr>
          <a:xfrm>
            <a:off x="3978928" y="2442961"/>
            <a:ext cx="13716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dirty="0">
                <a:solidFill>
                  <a:srgbClr val="003C71"/>
                </a:solidFill>
              </a:rPr>
              <a:t>Cable length 11in</a:t>
            </a:r>
          </a:p>
        </p:txBody>
      </p:sp>
    </p:spTree>
    <p:extLst>
      <p:ext uri="{BB962C8B-B14F-4D97-AF65-F5344CB8AC3E}">
        <p14:creationId xmlns:p14="http://schemas.microsoft.com/office/powerpoint/2010/main" val="3684977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9C7CB-0F93-4054-B623-872D7C9E2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Waveform</a:t>
            </a:r>
          </a:p>
        </p:txBody>
      </p:sp>
      <p:pic>
        <p:nvPicPr>
          <p:cNvPr id="10" name="Picture 9" descr="A computer screen with colorful lines&#10;&#10;AI-generated content may be incorrect.">
            <a:extLst>
              <a:ext uri="{FF2B5EF4-FFF2-40B4-BE49-F238E27FC236}">
                <a16:creationId xmlns:a16="http://schemas.microsoft.com/office/drawing/2014/main" id="{F5417426-22A1-F97C-D167-F47A60A06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62" y="1132643"/>
            <a:ext cx="4292601" cy="2372109"/>
          </a:xfrm>
          <a:prstGeom prst="rect">
            <a:avLst/>
          </a:prstGeom>
        </p:spPr>
      </p:pic>
      <p:pic>
        <p:nvPicPr>
          <p:cNvPr id="12" name="Picture 11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894CA20E-54B4-8F35-53DD-DE872A4B6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0750" y="1132643"/>
            <a:ext cx="4292600" cy="237210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291A81D-F039-2082-9DD8-405A1AF67635}"/>
              </a:ext>
            </a:extLst>
          </p:cNvPr>
          <p:cNvSpPr txBox="1"/>
          <p:nvPr/>
        </p:nvSpPr>
        <p:spPr>
          <a:xfrm>
            <a:off x="197062" y="3561159"/>
            <a:ext cx="1290418" cy="33855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1100" dirty="0">
                <a:solidFill>
                  <a:srgbClr val="003C71"/>
                </a:solidFill>
              </a:rPr>
              <a:t>Signals on Tx </a:t>
            </a:r>
          </a:p>
          <a:p>
            <a:r>
              <a:rPr lang="en-US" sz="1100" dirty="0">
                <a:solidFill>
                  <a:srgbClr val="003C71"/>
                </a:solidFill>
              </a:rPr>
              <a:t>(CLK,CS,MISO,MOSI)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669546-29CA-E36D-FC1A-DBA85F1D3749}"/>
              </a:ext>
            </a:extLst>
          </p:cNvPr>
          <p:cNvSpPr txBox="1"/>
          <p:nvPr/>
        </p:nvSpPr>
        <p:spPr>
          <a:xfrm>
            <a:off x="4730750" y="3561159"/>
            <a:ext cx="1056379" cy="33855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1100" dirty="0">
                <a:solidFill>
                  <a:srgbClr val="003C71"/>
                </a:solidFill>
              </a:rPr>
              <a:t>Signals on Tx </a:t>
            </a:r>
          </a:p>
          <a:p>
            <a:r>
              <a:rPr lang="en-US" sz="1100" dirty="0">
                <a:solidFill>
                  <a:srgbClr val="003C71"/>
                </a:solidFill>
              </a:rPr>
              <a:t>(CLK,CS,IO2,IO3)</a:t>
            </a:r>
          </a:p>
        </p:txBody>
      </p:sp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CA72AFC7-9A83-95FD-1B96-CF1D36636A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3515523"/>
              </p:ext>
            </p:extLst>
          </p:nvPr>
        </p:nvGraphicFramePr>
        <p:xfrm>
          <a:off x="62345" y="4166322"/>
          <a:ext cx="13525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4" imgW="1352352" imgH="514350" progId="Package">
                  <p:embed/>
                </p:oleObj>
              </mc:Choice>
              <mc:Fallback>
                <p:oleObj name="Packager Shell Object" showAsIcon="1" r:id="rId4" imgW="1352352" imgH="514350" progId="Package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CA72AFC7-9A83-95FD-1B96-CF1D36636A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2345" y="4166322"/>
                        <a:ext cx="135255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38769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7010400" y="4824413"/>
            <a:ext cx="2133600" cy="273050"/>
          </a:xfrm>
          <a:prstGeom prst="rect">
            <a:avLst/>
          </a:prstGeom>
        </p:spPr>
        <p:txBody>
          <a:bodyPr/>
          <a:lstStyle/>
          <a:p>
            <a:fld id="{EE2556C5-CE8C-6547-B838-EA80C61A4AF7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146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Int_PPT Template_ClearPro_16x9">
  <a:themeElements>
    <a:clrScheme name="Custom 30">
      <a:dk1>
        <a:sysClr val="windowText" lastClr="000000"/>
      </a:dk1>
      <a:lt1>
        <a:sysClr val="window" lastClr="FFFFFF"/>
      </a:lt1>
      <a:dk2>
        <a:srgbClr val="003C71"/>
      </a:dk2>
      <a:lt2>
        <a:srgbClr val="B1BABF"/>
      </a:lt2>
      <a:accent1>
        <a:srgbClr val="0071C5"/>
      </a:accent1>
      <a:accent2>
        <a:srgbClr val="00AEEF"/>
      </a:accent2>
      <a:accent3>
        <a:srgbClr val="F3D54E"/>
      </a:accent3>
      <a:accent4>
        <a:srgbClr val="FFA300"/>
      </a:accent4>
      <a:accent5>
        <a:srgbClr val="FC4C02"/>
      </a:accent5>
      <a:accent6>
        <a:srgbClr val="C3D600"/>
      </a:accent6>
      <a:hlink>
        <a:srgbClr val="0071C5"/>
      </a:hlink>
      <a:folHlink>
        <a:srgbClr val="0071C5"/>
      </a:folHlink>
    </a:clrScheme>
    <a:fontScheme name="Intel Clear">
      <a:majorFont>
        <a:latin typeface="Intel Clear"/>
        <a:ea typeface=""/>
        <a:cs typeface=""/>
      </a:majorFont>
      <a:minorFont>
        <a:latin typeface="Intel Cle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0" tIns="0" rIns="0" bIns="0" rtlCol="0">
        <a:spAutoFit/>
      </a:bodyPr>
      <a:lstStyle>
        <a:defPPr>
          <a:defRPr sz="1100" dirty="0" err="1" smtClean="0">
            <a:solidFill>
              <a:srgbClr val="003C7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iVE_Presentation_Template_white-and-blue-backgrounds" id="{67AC39DE-5BA9-41E6-9730-20486CA5B429}" vid="{0FB57CD4-3406-4AB2-B402-8512DF0607D2}"/>
    </a:ext>
  </a:extLst>
</a:theme>
</file>

<file path=ppt/theme/theme2.xml><?xml version="1.0" encoding="utf-8"?>
<a:theme xmlns:a="http://schemas.openxmlformats.org/drawingml/2006/main" name="ISDF 16x9 Content Dark">
  <a:themeElements>
    <a:clrScheme name="Custom 28">
      <a:dk1>
        <a:sysClr val="windowText" lastClr="000000"/>
      </a:dk1>
      <a:lt1>
        <a:sysClr val="window" lastClr="FFFFFF"/>
      </a:lt1>
      <a:dk2>
        <a:srgbClr val="0071C5"/>
      </a:dk2>
      <a:lt2>
        <a:srgbClr val="FFFFFF"/>
      </a:lt2>
      <a:accent1>
        <a:srgbClr val="00AEEF"/>
      </a:accent1>
      <a:accent2>
        <a:srgbClr val="C4D600"/>
      </a:accent2>
      <a:accent3>
        <a:srgbClr val="F3D54E"/>
      </a:accent3>
      <a:accent4>
        <a:srgbClr val="FFA300"/>
      </a:accent4>
      <a:accent5>
        <a:srgbClr val="FC4C02"/>
      </a:accent5>
      <a:accent6>
        <a:srgbClr val="003C71"/>
      </a:accent6>
      <a:hlink>
        <a:srgbClr val="7ED3F7"/>
      </a:hlink>
      <a:folHlink>
        <a:srgbClr val="7ED3F7"/>
      </a:folHlink>
    </a:clrScheme>
    <a:fontScheme name="INtel">
      <a:majorFont>
        <a:latin typeface="Intel Clear Pro"/>
        <a:ea typeface=""/>
        <a:cs typeface="Arial"/>
      </a:majorFont>
      <a:minorFont>
        <a:latin typeface="Intel Clear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372" tIns="45688" rIns="91372" bIns="45688" numCol="1" rtlCol="0" anchor="t" anchorCtr="1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0" hangingPunct="1">
          <a:lnSpc>
            <a:spcPct val="95000"/>
          </a:lnSpc>
          <a:spcBef>
            <a:spcPct val="30000"/>
          </a:spcBef>
          <a:spcAft>
            <a:spcPct val="0"/>
          </a:spcAft>
          <a:buClr>
            <a:schemeClr val="tx1"/>
          </a:buClr>
          <a:buSzTx/>
          <a:buFont typeface="Wingdings" pitchFamily="2" charset="2"/>
          <a:buNone/>
          <a:tabLst/>
          <a:defRPr kumimoji="0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 Narrow" pitchFamily="34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372" tIns="45688" rIns="91372" bIns="45688" numCol="1" anchor="t" anchorCtr="1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95000"/>
          </a:lnSpc>
          <a:spcBef>
            <a:spcPct val="30000"/>
          </a:spcBef>
          <a:spcAft>
            <a:spcPct val="0"/>
          </a:spcAft>
          <a:buClr>
            <a:schemeClr val="tx1"/>
          </a:buClr>
          <a:buSzTx/>
          <a:buFont typeface="Wingdings" pitchFamily="2" charset="2"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 Narrow" pitchFamily="34" charset="0"/>
            <a:cs typeface="Arial" charset="0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 err="1" smtClean="0">
            <a:latin typeface="Intel Clear" panose="020B0604020203020204" pitchFamily="34" charset="0"/>
            <a:ea typeface="Intel Clear" panose="020B0604020203020204" pitchFamily="34" charset="0"/>
            <a:cs typeface="Intel Clear" panose="020B0604020203020204" pitchFamily="34" charset="0"/>
          </a:defRPr>
        </a:defPPr>
      </a:lstStyle>
    </a:txDef>
  </a:objectDefaults>
  <a:extraClrSchemeLst>
    <a:extraClrScheme>
      <a:clrScheme name="2_Architectur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Architectur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rchitectur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Architectur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Architectur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Architectur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Architectur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Architecture 8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5BB3B9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rchitecture 9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FFCC00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rchitecture 10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rchitecture 11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CC00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rchitecture 12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rchitecture 13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C5C0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rchitecture 14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00C5C0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rchitecture 15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10C8E1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rchitecture 16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10C8E1"/>
        </a:hlink>
        <a:folHlink>
          <a:srgbClr val="F3016E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iVE_Presentation_Template_white-and-blue-backgrounds" id="{67AC39DE-5BA9-41E6-9730-20486CA5B429}" vid="{E6ECA91D-37F2-4B38-8E0C-93BA5346339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Category xmlns="ebf1d100-1613-4ede-8230-b7412cdefad0">Unspecified</DocumentCategory>
    <OrderID xmlns="ebf1d100-1613-4ede-8230-b7412cdefad0">0</OrderID>
    <lcf76f155ced4ddcb4097134ff3c332f xmlns="ebf1d100-1613-4ede-8230-b7412cdefad0">
      <Terms xmlns="http://schemas.microsoft.com/office/infopath/2007/PartnerControls"/>
    </lcf76f155ced4ddcb4097134ff3c332f>
    <TaxCatchAll xmlns="a7bc6c04-a6f3-4b85-abcc-278c78dc556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5ED408337AFB478C50C3A7FD80372F" ma:contentTypeVersion="23" ma:contentTypeDescription="Create a new document." ma:contentTypeScope="" ma:versionID="a22bf636583adffcfecfd4b3bffbdc7f">
  <xsd:schema xmlns:xsd="http://www.w3.org/2001/XMLSchema" xmlns:xs="http://www.w3.org/2001/XMLSchema" xmlns:p="http://schemas.microsoft.com/office/2006/metadata/properties" xmlns:ns2="ebf1d100-1613-4ede-8230-b7412cdefad0" xmlns:ns3="b90ec49f-2142-4f57-ba8c-687c364400e7" xmlns:ns4="a7bc6c04-a6f3-4b85-abcc-278c78dc556b" targetNamespace="http://schemas.microsoft.com/office/2006/metadata/properties" ma:root="true" ma:fieldsID="82236c86f0dd8348e8210e895fa35b45" ns2:_="" ns3:_="" ns4:_="">
    <xsd:import namespace="ebf1d100-1613-4ede-8230-b7412cdefad0"/>
    <xsd:import namespace="b90ec49f-2142-4f57-ba8c-687c364400e7"/>
    <xsd:import namespace="a7bc6c04-a6f3-4b85-abcc-278c78dc556b"/>
    <xsd:element name="properties">
      <xsd:complexType>
        <xsd:sequence>
          <xsd:element name="documentManagement">
            <xsd:complexType>
              <xsd:all>
                <xsd:element ref="ns2:OrderID" minOccurs="0"/>
                <xsd:element ref="ns2:DocumentCategory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4:TaxCatchAll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f1d100-1613-4ede-8230-b7412cdefad0" elementFormDefault="qualified">
    <xsd:import namespace="http://schemas.microsoft.com/office/2006/documentManagement/types"/>
    <xsd:import namespace="http://schemas.microsoft.com/office/infopath/2007/PartnerControls"/>
    <xsd:element name="OrderID" ma:index="8" nillable="true" ma:displayName="Order ID" ma:decimals="0" ma:default="0" ma:hidden="true" ma:indexed="true" ma:internalName="OrderID" ma:readOnly="false" ma:percentage="FALSE">
      <xsd:simpleType>
        <xsd:restriction base="dms:Number"/>
      </xsd:simpleType>
    </xsd:element>
    <xsd:element name="DocumentCategory" ma:index="9" ma:displayName="Category" ma:default="Unspecified" ma:description="Add a Category to group similar content and enable additional sorting granularity." ma:format="Dropdown" ma:internalName="DocumentCategory" ma:readOnly="false">
      <xsd:simpleType>
        <xsd:union memberTypes="dms:Text">
          <xsd:simpleType>
            <xsd:restriction base="dms:Choice">
              <xsd:enumeration value="MBP/iMBO"/>
              <xsd:enumeration value="Miscellaneous Documents"/>
              <xsd:enumeration value="Presentations"/>
              <xsd:enumeration value="Status Reports"/>
              <xsd:enumeration value="Unspecified"/>
            </xsd:restriction>
          </xsd:simpleType>
        </xsd:union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27" nillable="true" ma:taxonomy="true" ma:internalName="lcf76f155ced4ddcb4097134ff3c332f" ma:taxonomyFieldName="MediaServiceImageTags" ma:displayName="Image Tags" ma:readOnly="false" ma:fieldId="{5cf76f15-5ced-4ddc-b409-7134ff3c332f}" ma:taxonomyMulti="true" ma:sspId="72a7515c-90a7-421b-ad67-16208a0551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0ec49f-2142-4f57-ba8c-687c364400e7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bc6c04-a6f3-4b85-abcc-278c78dc556b" elementFormDefault="qualified">
    <xsd:import namespace="http://schemas.microsoft.com/office/2006/documentManagement/types"/>
    <xsd:import namespace="http://schemas.microsoft.com/office/infopath/2007/PartnerControls"/>
    <xsd:element name="TaxCatchAll" ma:index="28" nillable="true" ma:displayName="Taxonomy Catch All Column" ma:hidden="true" ma:list="{8ec0f111-0998-421e-8bff-01cd4afd49c0}" ma:internalName="TaxCatchAll" ma:showField="CatchAllData" ma:web="b90ec49f-2142-4f57-ba8c-687c364400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B35D5AB-F2A8-4F4E-8127-C2CFFC102AF1}">
  <ds:schemaRefs>
    <ds:schemaRef ds:uri="04cf91c5-6c6d-41c1-a569-3ee050575fff"/>
    <ds:schemaRef ds:uri="http://schemas.microsoft.com/office/2006/metadata/properties"/>
    <ds:schemaRef ds:uri="http://schemas.microsoft.com/office/infopath/2007/PartnerControls"/>
    <ds:schemaRef ds:uri="ebf1d100-1613-4ede-8230-b7412cdefad0"/>
    <ds:schemaRef ds:uri="a7bc6c04-a6f3-4b85-abcc-278c78dc556b"/>
  </ds:schemaRefs>
</ds:datastoreItem>
</file>

<file path=customXml/itemProps2.xml><?xml version="1.0" encoding="utf-8"?>
<ds:datastoreItem xmlns:ds="http://schemas.openxmlformats.org/officeDocument/2006/customXml" ds:itemID="{658611E2-DFE4-4369-A252-10EAC4BDC5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bf1d100-1613-4ede-8230-b7412cdefad0"/>
    <ds:schemaRef ds:uri="b90ec49f-2142-4f57-ba8c-687c364400e7"/>
    <ds:schemaRef ds:uri="a7bc6c04-a6f3-4b85-abcc-278c78dc556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040F1E3-7405-4223-93A9-920B830F9C9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iVE_Template</Template>
  <TotalTime>0</TotalTime>
  <Words>842</Words>
  <Application>Microsoft Office PowerPoint</Application>
  <PresentationFormat>On-screen Show (16:9)</PresentationFormat>
  <Paragraphs>361</Paragraphs>
  <Slides>25</Slides>
  <Notes>16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8" baseType="lpstr">
      <vt:lpstr>Arial</vt:lpstr>
      <vt:lpstr>Arial Narrow</vt:lpstr>
      <vt:lpstr>Calibri</vt:lpstr>
      <vt:lpstr>Courier New</vt:lpstr>
      <vt:lpstr>Intel Clear</vt:lpstr>
      <vt:lpstr>Intel Clear Pro</vt:lpstr>
      <vt:lpstr>Neo Sans Intel</vt:lpstr>
      <vt:lpstr>Neo Sans Intel Medium</vt:lpstr>
      <vt:lpstr>Segoe UI</vt:lpstr>
      <vt:lpstr>Wingdings</vt:lpstr>
      <vt:lpstr>Int_PPT Template_ClearPro_16x9</vt:lpstr>
      <vt:lpstr>ISDF 16x9 Content Dark</vt:lpstr>
      <vt:lpstr>Packager Shell Object</vt:lpstr>
      <vt:lpstr> NVL HX THC ES1 Results 1 Load Topology 42.67MHz </vt:lpstr>
      <vt:lpstr>Test Conditions/Setup</vt:lpstr>
      <vt:lpstr>Test conditions </vt:lpstr>
      <vt:lpstr>Executive Summary</vt:lpstr>
      <vt:lpstr>Results</vt:lpstr>
      <vt:lpstr>Buffer settings</vt:lpstr>
      <vt:lpstr>Frequency</vt:lpstr>
      <vt:lpstr>Period</vt:lpstr>
      <vt:lpstr>Duty cycle</vt:lpstr>
      <vt:lpstr>CLK High/Low Time</vt:lpstr>
      <vt:lpstr>Setup Time CS</vt:lpstr>
      <vt:lpstr>Hold Time CS</vt:lpstr>
      <vt:lpstr>Setup time Tx</vt:lpstr>
      <vt:lpstr>HOLD time Tx</vt:lpstr>
      <vt:lpstr>Rise time Tx</vt:lpstr>
      <vt:lpstr>fall time Tx</vt:lpstr>
      <vt:lpstr>Vmax</vt:lpstr>
      <vt:lpstr>vmin</vt:lpstr>
      <vt:lpstr>Reviewers</vt:lpstr>
      <vt:lpstr>Backup</vt:lpstr>
      <vt:lpstr>External Design Specification</vt:lpstr>
      <vt:lpstr>Test points </vt:lpstr>
      <vt:lpstr>Trace length</vt:lpstr>
      <vt:lpstr>Waveform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>CTPClassification=CTP_IC:VisualMarkings=, CTPClassification=CTP_IC, CTPClassification=CTP_NT</cp:keywords>
  <cp:lastModifiedBy>Quintero Cruz, Jesus</cp:lastModifiedBy>
  <cp:revision>2</cp:revision>
  <dcterms:created xsi:type="dcterms:W3CDTF">2020-01-16T16:05:49Z</dcterms:created>
  <dcterms:modified xsi:type="dcterms:W3CDTF">2026-02-10T18:24:23Z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ce3573c0-7d22-4d00-a812-324eb2e86ad8</vt:lpwstr>
  </property>
  <property fmtid="{D5CDD505-2E9C-101B-9397-08002B2CF9AE}" pid="3" name="CTP_BU">
    <vt:lpwstr>NA</vt:lpwstr>
  </property>
  <property fmtid="{D5CDD505-2E9C-101B-9397-08002B2CF9AE}" pid="4" name="CTP_TimeStamp">
    <vt:lpwstr>2020-01-24 16:44:51Z</vt:lpwstr>
  </property>
  <property fmtid="{D5CDD505-2E9C-101B-9397-08002B2CF9AE}" pid="5" name="ContentTypeId">
    <vt:lpwstr>0x010100355ED408337AFB478C50C3A7FD80372F</vt:lpwstr>
  </property>
  <property fmtid="{D5CDD505-2E9C-101B-9397-08002B2CF9AE}" pid="6" name="CTPClassification">
    <vt:lpwstr>CTP_NT</vt:lpwstr>
  </property>
  <property fmtid="{D5CDD505-2E9C-101B-9397-08002B2CF9AE}" pid="7" name="CTP_IDSID">
    <vt:lpwstr>NA</vt:lpwstr>
  </property>
  <property fmtid="{D5CDD505-2E9C-101B-9397-08002B2CF9AE}" pid="8" name="CTP_WWID">
    <vt:lpwstr>NA</vt:lpwstr>
  </property>
  <property fmtid="{D5CDD505-2E9C-101B-9397-08002B2CF9AE}" pid="9" name="MediaServiceImageTags">
    <vt:lpwstr/>
  </property>
</Properties>
</file>